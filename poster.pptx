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7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730" y="-3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A11AE1-59C1-49AC-8ABF-CF20788FE97C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83D016AA-7999-413A-A34C-1F5DED7E0240}">
      <dgm:prSet phldrT="[Text]" phldr="0"/>
      <dgm:spPr>
        <a:solidFill>
          <a:srgbClr val="2B2765"/>
        </a:solidFill>
      </dgm:spPr>
      <dgm:t>
        <a:bodyPr/>
        <a:lstStyle/>
        <a:p>
          <a:r>
            <a:rPr lang="en-US" dirty="0"/>
            <a:t>The Problem</a:t>
          </a:r>
          <a:endParaRPr lang="en-IL" dirty="0"/>
        </a:p>
      </dgm:t>
    </dgm:pt>
    <dgm:pt modelId="{69FDCE15-BFD7-4F74-8E99-B45F831BC6AB}" type="parTrans" cxnId="{91D934FB-DC3D-4909-AAFD-F160FD7882BD}">
      <dgm:prSet/>
      <dgm:spPr/>
      <dgm:t>
        <a:bodyPr/>
        <a:lstStyle/>
        <a:p>
          <a:endParaRPr lang="en-IL"/>
        </a:p>
      </dgm:t>
    </dgm:pt>
    <dgm:pt modelId="{7C1DF515-BCAA-4EEA-B07B-096ADA3B0862}" type="sibTrans" cxnId="{91D934FB-DC3D-4909-AAFD-F160FD7882BD}">
      <dgm:prSet/>
      <dgm:spPr/>
      <dgm:t>
        <a:bodyPr/>
        <a:lstStyle/>
        <a:p>
          <a:endParaRPr lang="en-IL"/>
        </a:p>
      </dgm:t>
    </dgm:pt>
    <dgm:pt modelId="{B1FD6242-F6AF-42F7-A124-A32C4888D803}">
      <dgm:prSet phldrT="[Text]" custT="1"/>
      <dgm:spPr>
        <a:solidFill>
          <a:srgbClr val="2B2765"/>
        </a:solidFill>
      </dgm:spPr>
      <dgm:t>
        <a:bodyPr/>
        <a:lstStyle/>
        <a:p>
          <a:pPr>
            <a:buNone/>
          </a:pPr>
          <a:r>
            <a:rPr lang="en-IL" sz="3200" dirty="0"/>
            <a:t>Real-world datasets are often </a:t>
          </a:r>
          <a:r>
            <a:rPr lang="en-IL" sz="3200" b="1" dirty="0"/>
            <a:t>imbalanced</a:t>
          </a:r>
          <a:r>
            <a:rPr lang="en-IL" sz="3200" dirty="0"/>
            <a:t>: rare cases (fraud, disease, faults) are far outnumbered.</a:t>
          </a:r>
        </a:p>
      </dgm:t>
    </dgm:pt>
    <dgm:pt modelId="{C2AF5CF0-3E86-4893-B51D-028C54E99FF5}" type="parTrans" cxnId="{657F342B-6601-4303-B386-4F449972B89A}">
      <dgm:prSet/>
      <dgm:spPr/>
      <dgm:t>
        <a:bodyPr/>
        <a:lstStyle/>
        <a:p>
          <a:endParaRPr lang="en-IL"/>
        </a:p>
      </dgm:t>
    </dgm:pt>
    <dgm:pt modelId="{ADCD0726-D111-487E-AED1-4FA2D02DE289}" type="sibTrans" cxnId="{657F342B-6601-4303-B386-4F449972B89A}">
      <dgm:prSet/>
      <dgm:spPr/>
      <dgm:t>
        <a:bodyPr/>
        <a:lstStyle/>
        <a:p>
          <a:endParaRPr lang="en-IL"/>
        </a:p>
      </dgm:t>
    </dgm:pt>
    <dgm:pt modelId="{3DF6904D-9FCE-45E1-B149-117EC16D5A63}">
      <dgm:prSet phldrT="[Text]" custT="1"/>
      <dgm:spPr>
        <a:solidFill>
          <a:srgbClr val="2B2765"/>
        </a:solidFill>
      </dgm:spPr>
      <dgm:t>
        <a:bodyPr/>
        <a:lstStyle/>
        <a:p>
          <a:pPr>
            <a:buNone/>
          </a:pPr>
          <a:r>
            <a:rPr lang="en-IL" sz="3200" dirty="0"/>
            <a:t>The </a:t>
          </a:r>
          <a:r>
            <a:rPr lang="en-IL" sz="3200" b="1" dirty="0"/>
            <a:t>accuracy paradox</a:t>
          </a:r>
          <a:r>
            <a:rPr lang="en-IL" sz="3200" dirty="0"/>
            <a:t>: a model can ignore the rare class and still score high accuracy.</a:t>
          </a:r>
        </a:p>
      </dgm:t>
    </dgm:pt>
    <dgm:pt modelId="{50DEA865-2F41-4CEC-912D-A8E03A4E8E0E}" type="parTrans" cxnId="{EE639EE4-3D37-4886-81BA-DCAC158E7A79}">
      <dgm:prSet/>
      <dgm:spPr/>
      <dgm:t>
        <a:bodyPr/>
        <a:lstStyle/>
        <a:p>
          <a:endParaRPr lang="en-IL"/>
        </a:p>
      </dgm:t>
    </dgm:pt>
    <dgm:pt modelId="{C6E89FCB-1D57-4867-9E9C-B824EAB5BE86}" type="sibTrans" cxnId="{EE639EE4-3D37-4886-81BA-DCAC158E7A79}">
      <dgm:prSet/>
      <dgm:spPr/>
      <dgm:t>
        <a:bodyPr/>
        <a:lstStyle/>
        <a:p>
          <a:endParaRPr lang="en-IL"/>
        </a:p>
      </dgm:t>
    </dgm:pt>
    <dgm:pt modelId="{421EB751-3CBA-4CF5-A19A-75C9B01E4F3E}">
      <dgm:prSet phldrT="[Text]" custT="1"/>
      <dgm:spPr>
        <a:solidFill>
          <a:srgbClr val="2B2765"/>
        </a:solidFill>
      </dgm:spPr>
      <dgm:t>
        <a:bodyPr/>
        <a:lstStyle/>
        <a:p>
          <a:pPr>
            <a:buNone/>
          </a:pPr>
          <a:r>
            <a:rPr lang="en-IL" sz="3200" dirty="0"/>
            <a:t>Existing tools lack transparency, making balancing results hard to compare or reproduce.</a:t>
          </a:r>
        </a:p>
      </dgm:t>
    </dgm:pt>
    <dgm:pt modelId="{7B622AA9-BCF8-4D24-9C24-2B9C0A3E2CFD}" type="parTrans" cxnId="{0F439925-FAD2-4AFA-A134-E204C9C5460B}">
      <dgm:prSet/>
      <dgm:spPr/>
      <dgm:t>
        <a:bodyPr/>
        <a:lstStyle/>
        <a:p>
          <a:endParaRPr lang="en-IL"/>
        </a:p>
      </dgm:t>
    </dgm:pt>
    <dgm:pt modelId="{096EF6F9-3E59-411F-A536-36E332ECAA48}" type="sibTrans" cxnId="{0F439925-FAD2-4AFA-A134-E204C9C5460B}">
      <dgm:prSet/>
      <dgm:spPr/>
      <dgm:t>
        <a:bodyPr/>
        <a:lstStyle/>
        <a:p>
          <a:endParaRPr lang="en-IL"/>
        </a:p>
      </dgm:t>
    </dgm:pt>
    <dgm:pt modelId="{6E859CFA-8C1A-45AD-A206-4F2207C2AB5C}" type="pres">
      <dgm:prSet presAssocID="{CCA11AE1-59C1-49AC-8ABF-CF20788FE97C}" presName="composite" presStyleCnt="0">
        <dgm:presLayoutVars>
          <dgm:chMax val="1"/>
          <dgm:dir/>
          <dgm:resizeHandles val="exact"/>
        </dgm:presLayoutVars>
      </dgm:prSet>
      <dgm:spPr/>
    </dgm:pt>
    <dgm:pt modelId="{C1B2BE4E-0AE1-4B62-89D8-EAC66EE8DD9D}" type="pres">
      <dgm:prSet presAssocID="{83D016AA-7999-413A-A34C-1F5DED7E0240}" presName="roof" presStyleLbl="dkBgShp" presStyleIdx="0" presStyleCnt="2" custLinFactNeighborX="3293" custLinFactNeighborY="-50724"/>
      <dgm:spPr/>
    </dgm:pt>
    <dgm:pt modelId="{E3A23536-FCAD-4184-8B27-D3BF60E98686}" type="pres">
      <dgm:prSet presAssocID="{83D016AA-7999-413A-A34C-1F5DED7E0240}" presName="pillars" presStyleCnt="0"/>
      <dgm:spPr/>
    </dgm:pt>
    <dgm:pt modelId="{D64BE642-1DF3-496C-BAC1-7E12DA80C42B}" type="pres">
      <dgm:prSet presAssocID="{83D016AA-7999-413A-A34C-1F5DED7E0240}" presName="pillar1" presStyleLbl="node1" presStyleIdx="0" presStyleCnt="3">
        <dgm:presLayoutVars>
          <dgm:bulletEnabled val="1"/>
        </dgm:presLayoutVars>
      </dgm:prSet>
      <dgm:spPr/>
    </dgm:pt>
    <dgm:pt modelId="{CE566BFE-3776-4A09-84B9-58C271EC9ADC}" type="pres">
      <dgm:prSet presAssocID="{3DF6904D-9FCE-45E1-B149-117EC16D5A63}" presName="pillarX" presStyleLbl="node1" presStyleIdx="1" presStyleCnt="3">
        <dgm:presLayoutVars>
          <dgm:bulletEnabled val="1"/>
        </dgm:presLayoutVars>
      </dgm:prSet>
      <dgm:spPr/>
    </dgm:pt>
    <dgm:pt modelId="{1C0CABF3-7EE7-4010-8734-E0FDB215C1D8}" type="pres">
      <dgm:prSet presAssocID="{421EB751-3CBA-4CF5-A19A-75C9B01E4F3E}" presName="pillarX" presStyleLbl="node1" presStyleIdx="2" presStyleCnt="3">
        <dgm:presLayoutVars>
          <dgm:bulletEnabled val="1"/>
        </dgm:presLayoutVars>
      </dgm:prSet>
      <dgm:spPr/>
    </dgm:pt>
    <dgm:pt modelId="{33FCF795-8766-446B-878A-FB228E5D0DFF}" type="pres">
      <dgm:prSet presAssocID="{83D016AA-7999-413A-A34C-1F5DED7E0240}" presName="base" presStyleLbl="dkBgShp" presStyleIdx="1" presStyleCnt="2"/>
      <dgm:spPr>
        <a:solidFill>
          <a:srgbClr val="2B2765"/>
        </a:solidFill>
      </dgm:spPr>
    </dgm:pt>
  </dgm:ptLst>
  <dgm:cxnLst>
    <dgm:cxn modelId="{D0FAFA0E-AE9C-45D5-B28D-D868E07EBA07}" type="presOf" srcId="{3DF6904D-9FCE-45E1-B149-117EC16D5A63}" destId="{CE566BFE-3776-4A09-84B9-58C271EC9ADC}" srcOrd="0" destOrd="0" presId="urn:microsoft.com/office/officeart/2005/8/layout/hList3"/>
    <dgm:cxn modelId="{0F439925-FAD2-4AFA-A134-E204C9C5460B}" srcId="{83D016AA-7999-413A-A34C-1F5DED7E0240}" destId="{421EB751-3CBA-4CF5-A19A-75C9B01E4F3E}" srcOrd="2" destOrd="0" parTransId="{7B622AA9-BCF8-4D24-9C24-2B9C0A3E2CFD}" sibTransId="{096EF6F9-3E59-411F-A536-36E332ECAA48}"/>
    <dgm:cxn modelId="{12892129-1EC3-4571-9844-5209873ABBAC}" type="presOf" srcId="{421EB751-3CBA-4CF5-A19A-75C9B01E4F3E}" destId="{1C0CABF3-7EE7-4010-8734-E0FDB215C1D8}" srcOrd="0" destOrd="0" presId="urn:microsoft.com/office/officeart/2005/8/layout/hList3"/>
    <dgm:cxn modelId="{657F342B-6601-4303-B386-4F449972B89A}" srcId="{83D016AA-7999-413A-A34C-1F5DED7E0240}" destId="{B1FD6242-F6AF-42F7-A124-A32C4888D803}" srcOrd="0" destOrd="0" parTransId="{C2AF5CF0-3E86-4893-B51D-028C54E99FF5}" sibTransId="{ADCD0726-D111-487E-AED1-4FA2D02DE289}"/>
    <dgm:cxn modelId="{9DD0A676-7F23-41BB-9BF6-C59022D91EEF}" type="presOf" srcId="{CCA11AE1-59C1-49AC-8ABF-CF20788FE97C}" destId="{6E859CFA-8C1A-45AD-A206-4F2207C2AB5C}" srcOrd="0" destOrd="0" presId="urn:microsoft.com/office/officeart/2005/8/layout/hList3"/>
    <dgm:cxn modelId="{39567189-4ADD-4DED-AB6F-F8536FA57169}" type="presOf" srcId="{B1FD6242-F6AF-42F7-A124-A32C4888D803}" destId="{D64BE642-1DF3-496C-BAC1-7E12DA80C42B}" srcOrd="0" destOrd="0" presId="urn:microsoft.com/office/officeart/2005/8/layout/hList3"/>
    <dgm:cxn modelId="{3454F197-E6A7-4AE6-A525-4678C329B826}" type="presOf" srcId="{83D016AA-7999-413A-A34C-1F5DED7E0240}" destId="{C1B2BE4E-0AE1-4B62-89D8-EAC66EE8DD9D}" srcOrd="0" destOrd="0" presId="urn:microsoft.com/office/officeart/2005/8/layout/hList3"/>
    <dgm:cxn modelId="{EE639EE4-3D37-4886-81BA-DCAC158E7A79}" srcId="{83D016AA-7999-413A-A34C-1F5DED7E0240}" destId="{3DF6904D-9FCE-45E1-B149-117EC16D5A63}" srcOrd="1" destOrd="0" parTransId="{50DEA865-2F41-4CEC-912D-A8E03A4E8E0E}" sibTransId="{C6E89FCB-1D57-4867-9E9C-B824EAB5BE86}"/>
    <dgm:cxn modelId="{91D934FB-DC3D-4909-AAFD-F160FD7882BD}" srcId="{CCA11AE1-59C1-49AC-8ABF-CF20788FE97C}" destId="{83D016AA-7999-413A-A34C-1F5DED7E0240}" srcOrd="0" destOrd="0" parTransId="{69FDCE15-BFD7-4F74-8E99-B45F831BC6AB}" sibTransId="{7C1DF515-BCAA-4EEA-B07B-096ADA3B0862}"/>
    <dgm:cxn modelId="{D2025540-8F09-4BF6-8528-9C88ADD41D6D}" type="presParOf" srcId="{6E859CFA-8C1A-45AD-A206-4F2207C2AB5C}" destId="{C1B2BE4E-0AE1-4B62-89D8-EAC66EE8DD9D}" srcOrd="0" destOrd="0" presId="urn:microsoft.com/office/officeart/2005/8/layout/hList3"/>
    <dgm:cxn modelId="{81BC65CA-030F-4082-AA21-DA334DFAD394}" type="presParOf" srcId="{6E859CFA-8C1A-45AD-A206-4F2207C2AB5C}" destId="{E3A23536-FCAD-4184-8B27-D3BF60E98686}" srcOrd="1" destOrd="0" presId="urn:microsoft.com/office/officeart/2005/8/layout/hList3"/>
    <dgm:cxn modelId="{68277BE8-D6FF-4C87-882A-0DE39CC37635}" type="presParOf" srcId="{E3A23536-FCAD-4184-8B27-D3BF60E98686}" destId="{D64BE642-1DF3-496C-BAC1-7E12DA80C42B}" srcOrd="0" destOrd="0" presId="urn:microsoft.com/office/officeart/2005/8/layout/hList3"/>
    <dgm:cxn modelId="{D23CC569-47B7-44EA-B634-8D7038552CC4}" type="presParOf" srcId="{E3A23536-FCAD-4184-8B27-D3BF60E98686}" destId="{CE566BFE-3776-4A09-84B9-58C271EC9ADC}" srcOrd="1" destOrd="0" presId="urn:microsoft.com/office/officeart/2005/8/layout/hList3"/>
    <dgm:cxn modelId="{7B0BDD11-3022-47C8-9E29-3B410E3B2DCE}" type="presParOf" srcId="{E3A23536-FCAD-4184-8B27-D3BF60E98686}" destId="{1C0CABF3-7EE7-4010-8734-E0FDB215C1D8}" srcOrd="2" destOrd="0" presId="urn:microsoft.com/office/officeart/2005/8/layout/hList3"/>
    <dgm:cxn modelId="{C7921B8D-FD3C-43E9-98EB-1D70A5C1BDF5}" type="presParOf" srcId="{6E859CFA-8C1A-45AD-A206-4F2207C2AB5C}" destId="{33FCF795-8766-446B-878A-FB228E5D0DFF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313B91-2E98-46D9-AF9F-FB0F5D68D46F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A2B07F1B-0337-4DF3-A0C4-5CA05471A1A8}">
      <dgm:prSet phldrT="[Text]" phldr="0"/>
      <dgm:spPr>
        <a:solidFill>
          <a:srgbClr val="2B2765"/>
        </a:solidFill>
      </dgm:spPr>
      <dgm:t>
        <a:bodyPr/>
        <a:lstStyle/>
        <a:p>
          <a:r>
            <a:rPr lang="en-US" dirty="0"/>
            <a:t>Objectives</a:t>
          </a:r>
          <a:endParaRPr lang="en-IL" dirty="0"/>
        </a:p>
      </dgm:t>
    </dgm:pt>
    <dgm:pt modelId="{1B759154-DA0D-4D5B-8B0A-9F1C96BEEFC5}" type="parTrans" cxnId="{77061F84-56A2-491B-AC64-88BF85183575}">
      <dgm:prSet/>
      <dgm:spPr/>
      <dgm:t>
        <a:bodyPr/>
        <a:lstStyle/>
        <a:p>
          <a:endParaRPr lang="en-IL"/>
        </a:p>
      </dgm:t>
    </dgm:pt>
    <dgm:pt modelId="{1FCA9D0F-AD47-41AD-A030-48BD6676DA3D}" type="sibTrans" cxnId="{77061F84-56A2-491B-AC64-88BF85183575}">
      <dgm:prSet/>
      <dgm:spPr/>
      <dgm:t>
        <a:bodyPr/>
        <a:lstStyle/>
        <a:p>
          <a:endParaRPr lang="en-IL"/>
        </a:p>
      </dgm:t>
    </dgm:pt>
    <dgm:pt modelId="{38A2C5F8-EDF7-4E35-9DBE-9FD89E7C62C8}">
      <dgm:prSet phldrT="[Text]" custT="1"/>
      <dgm:spPr>
        <a:ln w="57150"/>
      </dgm:spPr>
      <dgm:t>
        <a:bodyPr/>
        <a:lstStyle/>
        <a:p>
          <a:pPr>
            <a:buNone/>
          </a:pPr>
          <a:r>
            <a:rPr lang="en-IL" sz="3200" b="1" dirty="0"/>
            <a:t>Diagnose</a:t>
          </a:r>
          <a:r>
            <a:rPr lang="en-IL" sz="3200" dirty="0"/>
            <a:t> the level of imbalance in any </a:t>
          </a:r>
          <a:r>
            <a:rPr lang="en-IL" sz="3200" dirty="0" err="1"/>
            <a:t>labeled</a:t>
          </a:r>
          <a:r>
            <a:rPr lang="en-IL" sz="3200" dirty="0"/>
            <a:t> dataset and present it transparently (Imbalance Ratio + class distribution).</a:t>
          </a:r>
        </a:p>
      </dgm:t>
    </dgm:pt>
    <dgm:pt modelId="{8EE4649D-F18B-4F78-82A2-184DE57FAAA7}" type="parTrans" cxnId="{0048EACA-B153-45E3-93E1-51D5D5278E90}">
      <dgm:prSet/>
      <dgm:spPr/>
      <dgm:t>
        <a:bodyPr/>
        <a:lstStyle/>
        <a:p>
          <a:endParaRPr lang="en-IL"/>
        </a:p>
      </dgm:t>
    </dgm:pt>
    <dgm:pt modelId="{9C564117-9612-4053-8C35-B9E850EBD70E}" type="sibTrans" cxnId="{0048EACA-B153-45E3-93E1-51D5D5278E90}">
      <dgm:prSet/>
      <dgm:spPr/>
      <dgm:t>
        <a:bodyPr/>
        <a:lstStyle/>
        <a:p>
          <a:endParaRPr lang="en-IL"/>
        </a:p>
      </dgm:t>
    </dgm:pt>
    <dgm:pt modelId="{003569A4-8FF6-4E9F-B588-CE6450D463DA}">
      <dgm:prSet phldrT="[Text]" custT="1"/>
      <dgm:spPr>
        <a:ln w="57150"/>
      </dgm:spPr>
      <dgm:t>
        <a:bodyPr/>
        <a:lstStyle/>
        <a:p>
          <a:pPr>
            <a:buNone/>
          </a:pPr>
          <a:r>
            <a:rPr lang="en-IL" sz="3200" b="1" dirty="0"/>
            <a:t>Empower</a:t>
          </a:r>
          <a:r>
            <a:rPr lang="en-IL" sz="3200" dirty="0"/>
            <a:t> users to freely choose and compare three balancing methods (SMOTE, NearMiss, Combined).</a:t>
          </a:r>
        </a:p>
      </dgm:t>
    </dgm:pt>
    <dgm:pt modelId="{15F77C20-D422-4284-A47F-7DBC5A735C88}" type="parTrans" cxnId="{FE3CBEF9-B1F0-455C-AC80-B3FBC05ABF51}">
      <dgm:prSet/>
      <dgm:spPr/>
      <dgm:t>
        <a:bodyPr/>
        <a:lstStyle/>
        <a:p>
          <a:endParaRPr lang="en-IL"/>
        </a:p>
      </dgm:t>
    </dgm:pt>
    <dgm:pt modelId="{1126B023-3DDC-48EF-B533-FEE4E3CA25FE}" type="sibTrans" cxnId="{FE3CBEF9-B1F0-455C-AC80-B3FBC05ABF51}">
      <dgm:prSet/>
      <dgm:spPr/>
      <dgm:t>
        <a:bodyPr/>
        <a:lstStyle/>
        <a:p>
          <a:endParaRPr lang="en-IL"/>
        </a:p>
      </dgm:t>
    </dgm:pt>
    <dgm:pt modelId="{F1B935D5-EC56-4B55-AD72-DE30D73AA2A1}">
      <dgm:prSet phldrT="[Text]" phldr="0"/>
      <dgm:spPr>
        <a:solidFill>
          <a:srgbClr val="2B2765"/>
        </a:solidFill>
      </dgm:spPr>
      <dgm:t>
        <a:bodyPr/>
        <a:lstStyle/>
        <a:p>
          <a:r>
            <a:rPr lang="en-US" dirty="0"/>
            <a:t>Methodologies</a:t>
          </a:r>
          <a:endParaRPr lang="en-IL" dirty="0"/>
        </a:p>
      </dgm:t>
    </dgm:pt>
    <dgm:pt modelId="{5B0684E9-10B6-45C9-A4E0-635658CD6431}" type="parTrans" cxnId="{C1E542AF-5FE0-4D0B-B166-7458583CF61C}">
      <dgm:prSet/>
      <dgm:spPr/>
      <dgm:t>
        <a:bodyPr/>
        <a:lstStyle/>
        <a:p>
          <a:endParaRPr lang="en-IL"/>
        </a:p>
      </dgm:t>
    </dgm:pt>
    <dgm:pt modelId="{8193C5E3-1642-4D21-B391-04685B86D364}" type="sibTrans" cxnId="{C1E542AF-5FE0-4D0B-B166-7458583CF61C}">
      <dgm:prSet/>
      <dgm:spPr/>
      <dgm:t>
        <a:bodyPr/>
        <a:lstStyle/>
        <a:p>
          <a:endParaRPr lang="en-IL"/>
        </a:p>
      </dgm:t>
    </dgm:pt>
    <dgm:pt modelId="{BC6E2B5F-4940-4B51-A1B8-AF7DE15BE626}">
      <dgm:prSet phldrT="[Text]" phldr="0" custT="1"/>
      <dgm:spPr>
        <a:ln w="57150"/>
      </dgm:spPr>
      <dgm:t>
        <a:bodyPr/>
        <a:lstStyle/>
        <a:p>
          <a:r>
            <a:rPr lang="en-IL" sz="3200" b="1" dirty="0"/>
            <a:t>SMOTE</a:t>
          </a:r>
          <a:r>
            <a:rPr lang="en-IL" sz="3200" dirty="0"/>
            <a:t> — oversampling: generates synthetic minority samples by interpolating between neighbours (k=5), growing the minority class</a:t>
          </a:r>
          <a:r>
            <a:rPr lang="en-IL" sz="3600" dirty="0"/>
            <a:t>.</a:t>
          </a:r>
        </a:p>
      </dgm:t>
    </dgm:pt>
    <dgm:pt modelId="{CE16C0C4-7415-4E54-A832-F1259C8146E7}" type="parTrans" cxnId="{F266D897-A581-43E8-9F88-B2CA95A923D5}">
      <dgm:prSet/>
      <dgm:spPr/>
      <dgm:t>
        <a:bodyPr/>
        <a:lstStyle/>
        <a:p>
          <a:endParaRPr lang="en-IL"/>
        </a:p>
      </dgm:t>
    </dgm:pt>
    <dgm:pt modelId="{5C18F455-6D0A-4203-A147-90CA5F8501CB}" type="sibTrans" cxnId="{F266D897-A581-43E8-9F88-B2CA95A923D5}">
      <dgm:prSet/>
      <dgm:spPr/>
      <dgm:t>
        <a:bodyPr/>
        <a:lstStyle/>
        <a:p>
          <a:endParaRPr lang="en-IL"/>
        </a:p>
      </dgm:t>
    </dgm:pt>
    <dgm:pt modelId="{EB3DF173-E2B4-4660-92F7-E055BFE9BC78}">
      <dgm:prSet phldrT="[Text]" phldr="0" custT="1"/>
      <dgm:spPr>
        <a:ln w="57150"/>
      </dgm:spPr>
      <dgm:t>
        <a:bodyPr/>
        <a:lstStyle/>
        <a:p>
          <a:r>
            <a:rPr lang="en-IL" sz="3200" b="1" dirty="0"/>
            <a:t>Combined</a:t>
          </a:r>
          <a:r>
            <a:rPr lang="en-IL" sz="3200" dirty="0"/>
            <a:t> — applies SMOTE then NearMiss, balancing toward the midpoint of the two classes.</a:t>
          </a:r>
        </a:p>
      </dgm:t>
    </dgm:pt>
    <dgm:pt modelId="{A623F8E5-56C6-4BA2-82B9-D01B3CA7877C}" type="parTrans" cxnId="{722C0F4B-627B-4C95-9DB7-337DE01AD2CE}">
      <dgm:prSet/>
      <dgm:spPr>
        <a:ln w="57150"/>
      </dgm:spPr>
      <dgm:t>
        <a:bodyPr/>
        <a:lstStyle/>
        <a:p>
          <a:endParaRPr lang="en-IL"/>
        </a:p>
      </dgm:t>
    </dgm:pt>
    <dgm:pt modelId="{11F82D0B-2B68-4AD6-9612-B61A551E4CD2}" type="sibTrans" cxnId="{722C0F4B-627B-4C95-9DB7-337DE01AD2CE}">
      <dgm:prSet/>
      <dgm:spPr/>
      <dgm:t>
        <a:bodyPr/>
        <a:lstStyle/>
        <a:p>
          <a:endParaRPr lang="en-IL"/>
        </a:p>
      </dgm:t>
    </dgm:pt>
    <dgm:pt modelId="{4A784D05-34D6-422C-B5BE-734FDE478491}">
      <dgm:prSet phldrT="[Text]" phldr="0" custT="1"/>
      <dgm:spPr>
        <a:ln w="57150">
          <a:solidFill>
            <a:srgbClr val="2B2765"/>
          </a:solidFill>
        </a:ln>
      </dgm:spPr>
      <dgm:t>
        <a:bodyPr/>
        <a:lstStyle/>
        <a:p>
          <a:pPr>
            <a:buNone/>
          </a:pPr>
          <a:r>
            <a:rPr lang="en-IL" sz="3200" b="1" dirty="0"/>
            <a:t>Show</a:t>
          </a:r>
          <a:r>
            <a:rPr lang="en-IL" sz="3200" dirty="0"/>
            <a:t> clear before-and-after results so the effect on the rare class is visible and easy to interpret.</a:t>
          </a:r>
        </a:p>
      </dgm:t>
    </dgm:pt>
    <dgm:pt modelId="{D959D7F9-485D-4B79-BCCA-5E5A56B465AA}" type="parTrans" cxnId="{43801CAC-3048-477D-8A98-FB4043C0F6C8}">
      <dgm:prSet/>
      <dgm:spPr>
        <a:ln w="57150"/>
      </dgm:spPr>
      <dgm:t>
        <a:bodyPr/>
        <a:lstStyle/>
        <a:p>
          <a:endParaRPr lang="en-IL"/>
        </a:p>
      </dgm:t>
    </dgm:pt>
    <dgm:pt modelId="{20C78EE5-CA62-41C1-BE33-B1C8D53E2A93}" type="sibTrans" cxnId="{43801CAC-3048-477D-8A98-FB4043C0F6C8}">
      <dgm:prSet/>
      <dgm:spPr/>
      <dgm:t>
        <a:bodyPr/>
        <a:lstStyle/>
        <a:p>
          <a:endParaRPr lang="en-IL"/>
        </a:p>
      </dgm:t>
    </dgm:pt>
    <dgm:pt modelId="{FB56787B-5250-4B97-94C3-1DD35D34A156}">
      <dgm:prSet phldrT="[Text]" phldr="0" custT="1"/>
      <dgm:spPr>
        <a:ln w="57150"/>
      </dgm:spPr>
      <dgm:t>
        <a:bodyPr/>
        <a:lstStyle/>
        <a:p>
          <a:r>
            <a:rPr lang="en-IL" sz="3200" b="1" dirty="0"/>
            <a:t>NearMiss</a:t>
          </a:r>
          <a:r>
            <a:rPr lang="en-IL" sz="3200" dirty="0"/>
            <a:t> — undersampling: removes the majority samples closest to the class boundary (n=3), shrinking the majority class.</a:t>
          </a:r>
        </a:p>
      </dgm:t>
    </dgm:pt>
    <dgm:pt modelId="{2CD57614-1D08-41E2-8196-0F22367B4CF4}" type="parTrans" cxnId="{81A9C4FE-BEC4-4257-BF5F-792B75AA0522}">
      <dgm:prSet/>
      <dgm:spPr/>
      <dgm:t>
        <a:bodyPr/>
        <a:lstStyle/>
        <a:p>
          <a:endParaRPr lang="en-IL"/>
        </a:p>
      </dgm:t>
    </dgm:pt>
    <dgm:pt modelId="{F39E082B-4AFC-4C13-94F8-3230EF8FF845}" type="sibTrans" cxnId="{81A9C4FE-BEC4-4257-BF5F-792B75AA0522}">
      <dgm:prSet/>
      <dgm:spPr/>
      <dgm:t>
        <a:bodyPr/>
        <a:lstStyle/>
        <a:p>
          <a:endParaRPr lang="en-IL"/>
        </a:p>
      </dgm:t>
    </dgm:pt>
    <dgm:pt modelId="{FDD1829D-FF63-4BBE-9539-89A8821683F0}" type="pres">
      <dgm:prSet presAssocID="{C5313B91-2E98-46D9-AF9F-FB0F5D68D46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CF3C90-AC6F-44A0-A39A-FD0EF2A7AAE9}" type="pres">
      <dgm:prSet presAssocID="{A2B07F1B-0337-4DF3-A0C4-5CA05471A1A8}" presName="root" presStyleCnt="0"/>
      <dgm:spPr/>
    </dgm:pt>
    <dgm:pt modelId="{80512A34-8494-4EC6-8BA7-2A46B05BD507}" type="pres">
      <dgm:prSet presAssocID="{A2B07F1B-0337-4DF3-A0C4-5CA05471A1A8}" presName="rootComposite" presStyleCnt="0"/>
      <dgm:spPr/>
    </dgm:pt>
    <dgm:pt modelId="{F449597F-ECB8-467D-B0A7-22EC62CEB6D3}" type="pres">
      <dgm:prSet presAssocID="{A2B07F1B-0337-4DF3-A0C4-5CA05471A1A8}" presName="rootText" presStyleLbl="node1" presStyleIdx="0" presStyleCnt="2" custScaleX="102177" custScaleY="69303" custLinFactNeighborX="-18049" custLinFactNeighborY="427"/>
      <dgm:spPr/>
    </dgm:pt>
    <dgm:pt modelId="{A46C8158-CD19-4F97-9D5D-887D0DCC3BD4}" type="pres">
      <dgm:prSet presAssocID="{A2B07F1B-0337-4DF3-A0C4-5CA05471A1A8}" presName="rootConnector" presStyleLbl="node1" presStyleIdx="0" presStyleCnt="2"/>
      <dgm:spPr/>
    </dgm:pt>
    <dgm:pt modelId="{8EE1C503-F466-495D-8AF3-E98AC261358D}" type="pres">
      <dgm:prSet presAssocID="{A2B07F1B-0337-4DF3-A0C4-5CA05471A1A8}" presName="childShape" presStyleCnt="0"/>
      <dgm:spPr/>
    </dgm:pt>
    <dgm:pt modelId="{F8592D7B-6598-4CD2-BE0A-97840D7A141D}" type="pres">
      <dgm:prSet presAssocID="{8EE4649D-F18B-4F78-82A2-184DE57FAAA7}" presName="Name13" presStyleLbl="parChTrans1D2" presStyleIdx="0" presStyleCnt="6"/>
      <dgm:spPr/>
    </dgm:pt>
    <dgm:pt modelId="{0DE8D81C-B050-4675-B3BC-DE8D8058D4AE}" type="pres">
      <dgm:prSet presAssocID="{38A2C5F8-EDF7-4E35-9DBE-9FD89E7C62C8}" presName="childText" presStyleLbl="bgAcc1" presStyleIdx="0" presStyleCnt="6" custScaleX="152221" custScaleY="143475" custLinFactNeighborX="-24417" custLinFactNeighborY="-12482">
        <dgm:presLayoutVars>
          <dgm:bulletEnabled val="1"/>
        </dgm:presLayoutVars>
      </dgm:prSet>
      <dgm:spPr/>
    </dgm:pt>
    <dgm:pt modelId="{C7E0678F-1784-4640-B04C-28A40F85BDC4}" type="pres">
      <dgm:prSet presAssocID="{15F77C20-D422-4284-A47F-7DBC5A735C88}" presName="Name13" presStyleLbl="parChTrans1D2" presStyleIdx="1" presStyleCnt="6"/>
      <dgm:spPr/>
    </dgm:pt>
    <dgm:pt modelId="{8A657F37-4366-4B9C-BE9D-8277252A79DD}" type="pres">
      <dgm:prSet presAssocID="{003569A4-8FF6-4E9F-B588-CE6450D463DA}" presName="childText" presStyleLbl="bgAcc1" presStyleIdx="1" presStyleCnt="6" custScaleX="154574" custScaleY="140504" custLinFactNeighborX="-25593" custLinFactNeighborY="-29401">
        <dgm:presLayoutVars>
          <dgm:bulletEnabled val="1"/>
        </dgm:presLayoutVars>
      </dgm:prSet>
      <dgm:spPr/>
    </dgm:pt>
    <dgm:pt modelId="{3F618611-F5FC-4176-AED4-575BE4F73695}" type="pres">
      <dgm:prSet presAssocID="{D959D7F9-485D-4B79-BCCA-5E5A56B465AA}" presName="Name13" presStyleLbl="parChTrans1D2" presStyleIdx="2" presStyleCnt="6"/>
      <dgm:spPr/>
    </dgm:pt>
    <dgm:pt modelId="{0963106A-8E43-44B4-A01E-C97B00DD10D6}" type="pres">
      <dgm:prSet presAssocID="{4A784D05-34D6-422C-B5BE-734FDE478491}" presName="childText" presStyleLbl="bgAcc1" presStyleIdx="2" presStyleCnt="6" custScaleX="148560" custScaleY="137436" custLinFactNeighborX="-22586" custLinFactNeighborY="-42563">
        <dgm:presLayoutVars>
          <dgm:bulletEnabled val="1"/>
        </dgm:presLayoutVars>
      </dgm:prSet>
      <dgm:spPr/>
    </dgm:pt>
    <dgm:pt modelId="{C56F9E7A-2C2D-470E-A103-41BCFC33A6BF}" type="pres">
      <dgm:prSet presAssocID="{F1B935D5-EC56-4B55-AD72-DE30D73AA2A1}" presName="root" presStyleCnt="0"/>
      <dgm:spPr/>
    </dgm:pt>
    <dgm:pt modelId="{D2FDA34C-28A4-49D3-BC6E-03635D33059F}" type="pres">
      <dgm:prSet presAssocID="{F1B935D5-EC56-4B55-AD72-DE30D73AA2A1}" presName="rootComposite" presStyleCnt="0"/>
      <dgm:spPr/>
    </dgm:pt>
    <dgm:pt modelId="{52975A41-232B-4DE7-9BE7-3AC34FAFA8BE}" type="pres">
      <dgm:prSet presAssocID="{F1B935D5-EC56-4B55-AD72-DE30D73AA2A1}" presName="rootText" presStyleLbl="node1" presStyleIdx="1" presStyleCnt="2" custScaleX="108710" custScaleY="68996" custLinFactNeighborX="-25366" custLinFactNeighborY="-2337"/>
      <dgm:spPr/>
    </dgm:pt>
    <dgm:pt modelId="{050CB50A-0CFA-4B3C-A56F-4FF6BE6550AF}" type="pres">
      <dgm:prSet presAssocID="{F1B935D5-EC56-4B55-AD72-DE30D73AA2A1}" presName="rootConnector" presStyleLbl="node1" presStyleIdx="1" presStyleCnt="2"/>
      <dgm:spPr/>
    </dgm:pt>
    <dgm:pt modelId="{5D9669E9-30BD-4B93-9261-8815880518BF}" type="pres">
      <dgm:prSet presAssocID="{F1B935D5-EC56-4B55-AD72-DE30D73AA2A1}" presName="childShape" presStyleCnt="0"/>
      <dgm:spPr/>
    </dgm:pt>
    <dgm:pt modelId="{7E7A7456-5F0A-4E61-AA28-F1B53E4BE5F9}" type="pres">
      <dgm:prSet presAssocID="{CE16C0C4-7415-4E54-A832-F1259C8146E7}" presName="Name13" presStyleLbl="parChTrans1D2" presStyleIdx="3" presStyleCnt="6"/>
      <dgm:spPr/>
    </dgm:pt>
    <dgm:pt modelId="{1B94FCCC-8903-4CF1-8F03-326CAFD64CD4}" type="pres">
      <dgm:prSet presAssocID="{BC6E2B5F-4940-4B51-A1B8-AF7DE15BE626}" presName="childText" presStyleLbl="bgAcc1" presStyleIdx="3" presStyleCnt="6" custScaleX="160577" custScaleY="115677" custLinFactNeighborX="-34132" custLinFactNeighborY="-10082">
        <dgm:presLayoutVars>
          <dgm:bulletEnabled val="1"/>
        </dgm:presLayoutVars>
      </dgm:prSet>
      <dgm:spPr/>
    </dgm:pt>
    <dgm:pt modelId="{7224198A-DACF-4E3E-99FD-16D09407DFC6}" type="pres">
      <dgm:prSet presAssocID="{2CD57614-1D08-41E2-8196-0F22367B4CF4}" presName="Name13" presStyleLbl="parChTrans1D2" presStyleIdx="4" presStyleCnt="6"/>
      <dgm:spPr/>
    </dgm:pt>
    <dgm:pt modelId="{82CA8854-2B5D-4F89-BDD9-1BE0A6A14651}" type="pres">
      <dgm:prSet presAssocID="{FB56787B-5250-4B97-94C3-1DD35D34A156}" presName="childText" presStyleLbl="bgAcc1" presStyleIdx="4" presStyleCnt="6" custScaleX="156834" custScaleY="133678" custLinFactNeighborX="-30389" custLinFactNeighborY="-23175">
        <dgm:presLayoutVars>
          <dgm:bulletEnabled val="1"/>
        </dgm:presLayoutVars>
      </dgm:prSet>
      <dgm:spPr/>
    </dgm:pt>
    <dgm:pt modelId="{5E74230F-DA67-4894-946C-107A6CF4700F}" type="pres">
      <dgm:prSet presAssocID="{A623F8E5-56C6-4BA2-82B9-D01B3CA7877C}" presName="Name13" presStyleLbl="parChTrans1D2" presStyleIdx="5" presStyleCnt="6"/>
      <dgm:spPr/>
    </dgm:pt>
    <dgm:pt modelId="{778E5947-86BB-426A-B347-466062AD064A}" type="pres">
      <dgm:prSet presAssocID="{EB3DF173-E2B4-4660-92F7-E055BFE9BC78}" presName="childText" presStyleLbl="bgAcc1" presStyleIdx="5" presStyleCnt="6" custScaleX="143219" custScaleY="128908" custLinFactNeighborX="-26392" custLinFactNeighborY="-29949">
        <dgm:presLayoutVars>
          <dgm:bulletEnabled val="1"/>
        </dgm:presLayoutVars>
      </dgm:prSet>
      <dgm:spPr/>
    </dgm:pt>
  </dgm:ptLst>
  <dgm:cxnLst>
    <dgm:cxn modelId="{E864440C-99C9-4E43-9090-9B83E7C0750B}" type="presOf" srcId="{2CD57614-1D08-41E2-8196-0F22367B4CF4}" destId="{7224198A-DACF-4E3E-99FD-16D09407DFC6}" srcOrd="0" destOrd="0" presId="urn:microsoft.com/office/officeart/2005/8/layout/hierarchy3"/>
    <dgm:cxn modelId="{A0A5690C-D18C-46CA-A09F-1CBB0BD4E212}" type="presOf" srcId="{C5313B91-2E98-46D9-AF9F-FB0F5D68D46F}" destId="{FDD1829D-FF63-4BBE-9539-89A8821683F0}" srcOrd="0" destOrd="0" presId="urn:microsoft.com/office/officeart/2005/8/layout/hierarchy3"/>
    <dgm:cxn modelId="{6F19D70E-FB55-4F95-9D21-B59E1BD27151}" type="presOf" srcId="{8EE4649D-F18B-4F78-82A2-184DE57FAAA7}" destId="{F8592D7B-6598-4CD2-BE0A-97840D7A141D}" srcOrd="0" destOrd="0" presId="urn:microsoft.com/office/officeart/2005/8/layout/hierarchy3"/>
    <dgm:cxn modelId="{1D2EA42F-46CB-40BE-8143-47417981DFAB}" type="presOf" srcId="{EB3DF173-E2B4-4660-92F7-E055BFE9BC78}" destId="{778E5947-86BB-426A-B347-466062AD064A}" srcOrd="0" destOrd="0" presId="urn:microsoft.com/office/officeart/2005/8/layout/hierarchy3"/>
    <dgm:cxn modelId="{9F46003A-C18E-49D0-91D5-A109357D1687}" type="presOf" srcId="{D959D7F9-485D-4B79-BCCA-5E5A56B465AA}" destId="{3F618611-F5FC-4176-AED4-575BE4F73695}" srcOrd="0" destOrd="0" presId="urn:microsoft.com/office/officeart/2005/8/layout/hierarchy3"/>
    <dgm:cxn modelId="{B16F6A5F-1483-420D-A5B3-62B3EA2A4C58}" type="presOf" srcId="{CE16C0C4-7415-4E54-A832-F1259C8146E7}" destId="{7E7A7456-5F0A-4E61-AA28-F1B53E4BE5F9}" srcOrd="0" destOrd="0" presId="urn:microsoft.com/office/officeart/2005/8/layout/hierarchy3"/>
    <dgm:cxn modelId="{2A9C3844-C630-49C9-840E-CC4379703096}" type="presOf" srcId="{A2B07F1B-0337-4DF3-A0C4-5CA05471A1A8}" destId="{A46C8158-CD19-4F97-9D5D-887D0DCC3BD4}" srcOrd="1" destOrd="0" presId="urn:microsoft.com/office/officeart/2005/8/layout/hierarchy3"/>
    <dgm:cxn modelId="{8FB37E68-5DBF-4DFD-A675-9F237A0C5781}" type="presOf" srcId="{003569A4-8FF6-4E9F-B588-CE6450D463DA}" destId="{8A657F37-4366-4B9C-BE9D-8277252A79DD}" srcOrd="0" destOrd="0" presId="urn:microsoft.com/office/officeart/2005/8/layout/hierarchy3"/>
    <dgm:cxn modelId="{93F98A49-6696-4CF3-B887-0937935282C7}" type="presOf" srcId="{A2B07F1B-0337-4DF3-A0C4-5CA05471A1A8}" destId="{F449597F-ECB8-467D-B0A7-22EC62CEB6D3}" srcOrd="0" destOrd="0" presId="urn:microsoft.com/office/officeart/2005/8/layout/hierarchy3"/>
    <dgm:cxn modelId="{722C0F4B-627B-4C95-9DB7-337DE01AD2CE}" srcId="{F1B935D5-EC56-4B55-AD72-DE30D73AA2A1}" destId="{EB3DF173-E2B4-4660-92F7-E055BFE9BC78}" srcOrd="2" destOrd="0" parTransId="{A623F8E5-56C6-4BA2-82B9-D01B3CA7877C}" sibTransId="{11F82D0B-2B68-4AD6-9612-B61A551E4CD2}"/>
    <dgm:cxn modelId="{14B9F24B-19F0-4767-B818-A80C9EF2CF31}" type="presOf" srcId="{F1B935D5-EC56-4B55-AD72-DE30D73AA2A1}" destId="{050CB50A-0CFA-4B3C-A56F-4FF6BE6550AF}" srcOrd="1" destOrd="0" presId="urn:microsoft.com/office/officeart/2005/8/layout/hierarchy3"/>
    <dgm:cxn modelId="{13AE3673-6F54-4C7F-9713-399C437FCEB1}" type="presOf" srcId="{4A784D05-34D6-422C-B5BE-734FDE478491}" destId="{0963106A-8E43-44B4-A01E-C97B00DD10D6}" srcOrd="0" destOrd="0" presId="urn:microsoft.com/office/officeart/2005/8/layout/hierarchy3"/>
    <dgm:cxn modelId="{77061F84-56A2-491B-AC64-88BF85183575}" srcId="{C5313B91-2E98-46D9-AF9F-FB0F5D68D46F}" destId="{A2B07F1B-0337-4DF3-A0C4-5CA05471A1A8}" srcOrd="0" destOrd="0" parTransId="{1B759154-DA0D-4D5B-8B0A-9F1C96BEEFC5}" sibTransId="{1FCA9D0F-AD47-41AD-A030-48BD6676DA3D}"/>
    <dgm:cxn modelId="{F266D897-A581-43E8-9F88-B2CA95A923D5}" srcId="{F1B935D5-EC56-4B55-AD72-DE30D73AA2A1}" destId="{BC6E2B5F-4940-4B51-A1B8-AF7DE15BE626}" srcOrd="0" destOrd="0" parTransId="{CE16C0C4-7415-4E54-A832-F1259C8146E7}" sibTransId="{5C18F455-6D0A-4203-A147-90CA5F8501CB}"/>
    <dgm:cxn modelId="{C197969C-8591-4C23-B309-BCADEAC77882}" type="presOf" srcId="{15F77C20-D422-4284-A47F-7DBC5A735C88}" destId="{C7E0678F-1784-4640-B04C-28A40F85BDC4}" srcOrd="0" destOrd="0" presId="urn:microsoft.com/office/officeart/2005/8/layout/hierarchy3"/>
    <dgm:cxn modelId="{D30A2FA6-123B-4007-882D-E684493FCF77}" type="presOf" srcId="{FB56787B-5250-4B97-94C3-1DD35D34A156}" destId="{82CA8854-2B5D-4F89-BDD9-1BE0A6A14651}" srcOrd="0" destOrd="0" presId="urn:microsoft.com/office/officeart/2005/8/layout/hierarchy3"/>
    <dgm:cxn modelId="{43801CAC-3048-477D-8A98-FB4043C0F6C8}" srcId="{A2B07F1B-0337-4DF3-A0C4-5CA05471A1A8}" destId="{4A784D05-34D6-422C-B5BE-734FDE478491}" srcOrd="2" destOrd="0" parTransId="{D959D7F9-485D-4B79-BCCA-5E5A56B465AA}" sibTransId="{20C78EE5-CA62-41C1-BE33-B1C8D53E2A93}"/>
    <dgm:cxn modelId="{C1E542AF-5FE0-4D0B-B166-7458583CF61C}" srcId="{C5313B91-2E98-46D9-AF9F-FB0F5D68D46F}" destId="{F1B935D5-EC56-4B55-AD72-DE30D73AA2A1}" srcOrd="1" destOrd="0" parTransId="{5B0684E9-10B6-45C9-A4E0-635658CD6431}" sibTransId="{8193C5E3-1642-4D21-B391-04685B86D364}"/>
    <dgm:cxn modelId="{81C028B2-A5DF-46C5-BF09-6A1A031775C6}" type="presOf" srcId="{A623F8E5-56C6-4BA2-82B9-D01B3CA7877C}" destId="{5E74230F-DA67-4894-946C-107A6CF4700F}" srcOrd="0" destOrd="0" presId="urn:microsoft.com/office/officeart/2005/8/layout/hierarchy3"/>
    <dgm:cxn modelId="{0048EACA-B153-45E3-93E1-51D5D5278E90}" srcId="{A2B07F1B-0337-4DF3-A0C4-5CA05471A1A8}" destId="{38A2C5F8-EDF7-4E35-9DBE-9FD89E7C62C8}" srcOrd="0" destOrd="0" parTransId="{8EE4649D-F18B-4F78-82A2-184DE57FAAA7}" sibTransId="{9C564117-9612-4053-8C35-B9E850EBD70E}"/>
    <dgm:cxn modelId="{4DA51ECF-B361-40B3-AC87-D3DF32558935}" type="presOf" srcId="{F1B935D5-EC56-4B55-AD72-DE30D73AA2A1}" destId="{52975A41-232B-4DE7-9BE7-3AC34FAFA8BE}" srcOrd="0" destOrd="0" presId="urn:microsoft.com/office/officeart/2005/8/layout/hierarchy3"/>
    <dgm:cxn modelId="{97D6B4F3-10DC-4F78-8355-B5F4B8FB52F9}" type="presOf" srcId="{38A2C5F8-EDF7-4E35-9DBE-9FD89E7C62C8}" destId="{0DE8D81C-B050-4675-B3BC-DE8D8058D4AE}" srcOrd="0" destOrd="0" presId="urn:microsoft.com/office/officeart/2005/8/layout/hierarchy3"/>
    <dgm:cxn modelId="{FE3CBEF9-B1F0-455C-AC80-B3FBC05ABF51}" srcId="{A2B07F1B-0337-4DF3-A0C4-5CA05471A1A8}" destId="{003569A4-8FF6-4E9F-B588-CE6450D463DA}" srcOrd="1" destOrd="0" parTransId="{15F77C20-D422-4284-A47F-7DBC5A735C88}" sibTransId="{1126B023-3DDC-48EF-B533-FEE4E3CA25FE}"/>
    <dgm:cxn modelId="{ECFDFFFC-8BB5-43BD-811D-6699826F1C05}" type="presOf" srcId="{BC6E2B5F-4940-4B51-A1B8-AF7DE15BE626}" destId="{1B94FCCC-8903-4CF1-8F03-326CAFD64CD4}" srcOrd="0" destOrd="0" presId="urn:microsoft.com/office/officeart/2005/8/layout/hierarchy3"/>
    <dgm:cxn modelId="{81A9C4FE-BEC4-4257-BF5F-792B75AA0522}" srcId="{F1B935D5-EC56-4B55-AD72-DE30D73AA2A1}" destId="{FB56787B-5250-4B97-94C3-1DD35D34A156}" srcOrd="1" destOrd="0" parTransId="{2CD57614-1D08-41E2-8196-0F22367B4CF4}" sibTransId="{F39E082B-4AFC-4C13-94F8-3230EF8FF845}"/>
    <dgm:cxn modelId="{7840BD19-9355-4CD9-8C15-B71B46A2C8E3}" type="presParOf" srcId="{FDD1829D-FF63-4BBE-9539-89A8821683F0}" destId="{F2CF3C90-AC6F-44A0-A39A-FD0EF2A7AAE9}" srcOrd="0" destOrd="0" presId="urn:microsoft.com/office/officeart/2005/8/layout/hierarchy3"/>
    <dgm:cxn modelId="{9AB97B90-DF69-4238-B2D3-D1C0287FC8AC}" type="presParOf" srcId="{F2CF3C90-AC6F-44A0-A39A-FD0EF2A7AAE9}" destId="{80512A34-8494-4EC6-8BA7-2A46B05BD507}" srcOrd="0" destOrd="0" presId="urn:microsoft.com/office/officeart/2005/8/layout/hierarchy3"/>
    <dgm:cxn modelId="{93A8BFD9-4B42-44E2-8974-8455F57268BF}" type="presParOf" srcId="{80512A34-8494-4EC6-8BA7-2A46B05BD507}" destId="{F449597F-ECB8-467D-B0A7-22EC62CEB6D3}" srcOrd="0" destOrd="0" presId="urn:microsoft.com/office/officeart/2005/8/layout/hierarchy3"/>
    <dgm:cxn modelId="{99BCBC2C-C6B9-4132-A0CD-CFF4BF3E09F4}" type="presParOf" srcId="{80512A34-8494-4EC6-8BA7-2A46B05BD507}" destId="{A46C8158-CD19-4F97-9D5D-887D0DCC3BD4}" srcOrd="1" destOrd="0" presId="urn:microsoft.com/office/officeart/2005/8/layout/hierarchy3"/>
    <dgm:cxn modelId="{C9E725AD-58F3-42BF-9910-31DF1F67917C}" type="presParOf" srcId="{F2CF3C90-AC6F-44A0-A39A-FD0EF2A7AAE9}" destId="{8EE1C503-F466-495D-8AF3-E98AC261358D}" srcOrd="1" destOrd="0" presId="urn:microsoft.com/office/officeart/2005/8/layout/hierarchy3"/>
    <dgm:cxn modelId="{3A5DB317-CF28-4E59-9217-8BFEFA227B93}" type="presParOf" srcId="{8EE1C503-F466-495D-8AF3-E98AC261358D}" destId="{F8592D7B-6598-4CD2-BE0A-97840D7A141D}" srcOrd="0" destOrd="0" presId="urn:microsoft.com/office/officeart/2005/8/layout/hierarchy3"/>
    <dgm:cxn modelId="{C7B622F2-2531-466D-889A-FD36904C38DD}" type="presParOf" srcId="{8EE1C503-F466-495D-8AF3-E98AC261358D}" destId="{0DE8D81C-B050-4675-B3BC-DE8D8058D4AE}" srcOrd="1" destOrd="0" presId="urn:microsoft.com/office/officeart/2005/8/layout/hierarchy3"/>
    <dgm:cxn modelId="{1672567F-A16D-4A4C-ABF4-61438189EB03}" type="presParOf" srcId="{8EE1C503-F466-495D-8AF3-E98AC261358D}" destId="{C7E0678F-1784-4640-B04C-28A40F85BDC4}" srcOrd="2" destOrd="0" presId="urn:microsoft.com/office/officeart/2005/8/layout/hierarchy3"/>
    <dgm:cxn modelId="{762941E0-21C9-428B-AA89-7D93E18CAB3A}" type="presParOf" srcId="{8EE1C503-F466-495D-8AF3-E98AC261358D}" destId="{8A657F37-4366-4B9C-BE9D-8277252A79DD}" srcOrd="3" destOrd="0" presId="urn:microsoft.com/office/officeart/2005/8/layout/hierarchy3"/>
    <dgm:cxn modelId="{DE7B206B-4BB9-4727-9F93-450C2E8D92D8}" type="presParOf" srcId="{8EE1C503-F466-495D-8AF3-E98AC261358D}" destId="{3F618611-F5FC-4176-AED4-575BE4F73695}" srcOrd="4" destOrd="0" presId="urn:microsoft.com/office/officeart/2005/8/layout/hierarchy3"/>
    <dgm:cxn modelId="{7837953A-2D3E-422B-916F-951489CE0007}" type="presParOf" srcId="{8EE1C503-F466-495D-8AF3-E98AC261358D}" destId="{0963106A-8E43-44B4-A01E-C97B00DD10D6}" srcOrd="5" destOrd="0" presId="urn:microsoft.com/office/officeart/2005/8/layout/hierarchy3"/>
    <dgm:cxn modelId="{4D208B0A-0112-41DE-BAF1-367ABD7CECBA}" type="presParOf" srcId="{FDD1829D-FF63-4BBE-9539-89A8821683F0}" destId="{C56F9E7A-2C2D-470E-A103-41BCFC33A6BF}" srcOrd="1" destOrd="0" presId="urn:microsoft.com/office/officeart/2005/8/layout/hierarchy3"/>
    <dgm:cxn modelId="{0DF1B21C-3C34-44B1-81D3-E98B3BDBF079}" type="presParOf" srcId="{C56F9E7A-2C2D-470E-A103-41BCFC33A6BF}" destId="{D2FDA34C-28A4-49D3-BC6E-03635D33059F}" srcOrd="0" destOrd="0" presId="urn:microsoft.com/office/officeart/2005/8/layout/hierarchy3"/>
    <dgm:cxn modelId="{FA1C9E75-3437-4E71-8C4F-055A6BBCECA3}" type="presParOf" srcId="{D2FDA34C-28A4-49D3-BC6E-03635D33059F}" destId="{52975A41-232B-4DE7-9BE7-3AC34FAFA8BE}" srcOrd="0" destOrd="0" presId="urn:microsoft.com/office/officeart/2005/8/layout/hierarchy3"/>
    <dgm:cxn modelId="{648D1EE2-F26F-4FE6-9899-D0E5F08B4F66}" type="presParOf" srcId="{D2FDA34C-28A4-49D3-BC6E-03635D33059F}" destId="{050CB50A-0CFA-4B3C-A56F-4FF6BE6550AF}" srcOrd="1" destOrd="0" presId="urn:microsoft.com/office/officeart/2005/8/layout/hierarchy3"/>
    <dgm:cxn modelId="{0344F1AE-9F67-46AC-863C-77C2D69027A4}" type="presParOf" srcId="{C56F9E7A-2C2D-470E-A103-41BCFC33A6BF}" destId="{5D9669E9-30BD-4B93-9261-8815880518BF}" srcOrd="1" destOrd="0" presId="urn:microsoft.com/office/officeart/2005/8/layout/hierarchy3"/>
    <dgm:cxn modelId="{044AE65D-76CE-44A9-B0CC-D4C01E57AAE2}" type="presParOf" srcId="{5D9669E9-30BD-4B93-9261-8815880518BF}" destId="{7E7A7456-5F0A-4E61-AA28-F1B53E4BE5F9}" srcOrd="0" destOrd="0" presId="urn:microsoft.com/office/officeart/2005/8/layout/hierarchy3"/>
    <dgm:cxn modelId="{BE60EA44-8292-4A3A-8C52-472305999C69}" type="presParOf" srcId="{5D9669E9-30BD-4B93-9261-8815880518BF}" destId="{1B94FCCC-8903-4CF1-8F03-326CAFD64CD4}" srcOrd="1" destOrd="0" presId="urn:microsoft.com/office/officeart/2005/8/layout/hierarchy3"/>
    <dgm:cxn modelId="{83502BE6-8AEE-4D44-A3E4-F36563A2DE3C}" type="presParOf" srcId="{5D9669E9-30BD-4B93-9261-8815880518BF}" destId="{7224198A-DACF-4E3E-99FD-16D09407DFC6}" srcOrd="2" destOrd="0" presId="urn:microsoft.com/office/officeart/2005/8/layout/hierarchy3"/>
    <dgm:cxn modelId="{C0DA6DE6-C26C-4D6C-A2EB-6DC36F0A902B}" type="presParOf" srcId="{5D9669E9-30BD-4B93-9261-8815880518BF}" destId="{82CA8854-2B5D-4F89-BDD9-1BE0A6A14651}" srcOrd="3" destOrd="0" presId="urn:microsoft.com/office/officeart/2005/8/layout/hierarchy3"/>
    <dgm:cxn modelId="{C4E4D27C-303F-436B-8241-7DA86AF0DC76}" type="presParOf" srcId="{5D9669E9-30BD-4B93-9261-8815880518BF}" destId="{5E74230F-DA67-4894-946C-107A6CF4700F}" srcOrd="4" destOrd="0" presId="urn:microsoft.com/office/officeart/2005/8/layout/hierarchy3"/>
    <dgm:cxn modelId="{F24FD6F2-CC6A-4EB3-BB86-AA5380DDE9D1}" type="presParOf" srcId="{5D9669E9-30BD-4B93-9261-8815880518BF}" destId="{778E5947-86BB-426A-B347-466062AD064A}" srcOrd="5" destOrd="0" presId="urn:microsoft.com/office/officeart/2005/8/layout/hierarchy3"/>
  </dgm:cxnLst>
  <dgm:bg/>
  <dgm:whole>
    <a:ln w="57150"/>
  </dgm:whole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C9D06D-2114-469A-B84B-053D567B6B76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1CBB8A86-3CAF-4E0B-A8E4-3E082233F552}">
      <dgm:prSet phldrT="[Text]" phldr="0"/>
      <dgm:spPr>
        <a:solidFill>
          <a:srgbClr val="2B2765"/>
        </a:solidFill>
      </dgm:spPr>
      <dgm:t>
        <a:bodyPr/>
        <a:lstStyle/>
        <a:p>
          <a:r>
            <a:rPr lang="en-US" dirty="0"/>
            <a:t>Experiment</a:t>
          </a:r>
          <a:endParaRPr lang="en-IL" dirty="0"/>
        </a:p>
      </dgm:t>
    </dgm:pt>
    <dgm:pt modelId="{672B8F80-A55C-4175-88B1-A381659C075C}" type="parTrans" cxnId="{20342FF2-3F95-4C60-9B3F-5728083216C9}">
      <dgm:prSet/>
      <dgm:spPr/>
      <dgm:t>
        <a:bodyPr/>
        <a:lstStyle/>
        <a:p>
          <a:endParaRPr lang="en-IL"/>
        </a:p>
      </dgm:t>
    </dgm:pt>
    <dgm:pt modelId="{D8A14388-CB4E-4DC6-AB07-4480A5912F6F}" type="sibTrans" cxnId="{20342FF2-3F95-4C60-9B3F-5728083216C9}">
      <dgm:prSet/>
      <dgm:spPr/>
      <dgm:t>
        <a:bodyPr/>
        <a:lstStyle/>
        <a:p>
          <a:endParaRPr lang="en-IL"/>
        </a:p>
      </dgm:t>
    </dgm:pt>
    <dgm:pt modelId="{C63171D2-6817-4B15-86CA-A33A00C5977F}">
      <dgm:prSet phldrT="[Text]" custT="1"/>
      <dgm:spPr>
        <a:solidFill>
          <a:srgbClr val="2B2765"/>
        </a:solidFill>
      </dgm:spPr>
      <dgm:t>
        <a:bodyPr/>
        <a:lstStyle/>
        <a:p>
          <a:pPr>
            <a:buNone/>
          </a:pPr>
          <a:r>
            <a:rPr lang="en-IL" sz="3000" dirty="0"/>
            <a:t>Each balancing method was tested against the original, unbalanced data across eleven real-world datasets in the medical, finance, and education domains. For every dataset, a Logistic Regression model was trained and evaluated on the original and each balanced version under identical conditions. The chart highlights the five medical datasets, where a missed minority case can mean an undetected disease. Performance is reported using </a:t>
          </a:r>
          <a:r>
            <a:rPr lang="en-IL" sz="3000" b="1" dirty="0"/>
            <a:t>G-Mean</a:t>
          </a:r>
          <a:r>
            <a:rPr lang="en-IL" sz="3000" dirty="0"/>
            <a:t>, which only rises when the model performs well on both the majority and minority classes, making it the most honest measure of whether balancing actually helped.</a:t>
          </a:r>
        </a:p>
      </dgm:t>
    </dgm:pt>
    <dgm:pt modelId="{D9CFC9AF-4919-43AE-98E1-91388D931F56}" type="parTrans" cxnId="{FCC5180A-A6E0-4E10-B88F-C3FB96B51019}">
      <dgm:prSet/>
      <dgm:spPr/>
      <dgm:t>
        <a:bodyPr/>
        <a:lstStyle/>
        <a:p>
          <a:endParaRPr lang="en-IL"/>
        </a:p>
      </dgm:t>
    </dgm:pt>
    <dgm:pt modelId="{E389638E-AE59-4DB6-8087-1DBBC97C5D2E}" type="sibTrans" cxnId="{FCC5180A-A6E0-4E10-B88F-C3FB96B51019}">
      <dgm:prSet/>
      <dgm:spPr/>
      <dgm:t>
        <a:bodyPr/>
        <a:lstStyle/>
        <a:p>
          <a:endParaRPr lang="en-IL"/>
        </a:p>
      </dgm:t>
    </dgm:pt>
    <dgm:pt modelId="{1383AD79-C27B-4716-86E8-5911BA579F38}" type="pres">
      <dgm:prSet presAssocID="{EFC9D06D-2114-469A-B84B-053D567B6B76}" presName="composite" presStyleCnt="0">
        <dgm:presLayoutVars>
          <dgm:chMax val="1"/>
          <dgm:dir/>
          <dgm:resizeHandles val="exact"/>
        </dgm:presLayoutVars>
      </dgm:prSet>
      <dgm:spPr/>
    </dgm:pt>
    <dgm:pt modelId="{40C48A27-9CCD-407C-8C06-BEB7AEE9E632}" type="pres">
      <dgm:prSet presAssocID="{1CBB8A86-3CAF-4E0B-A8E4-3E082233F552}" presName="roof" presStyleLbl="dkBgShp" presStyleIdx="0" presStyleCnt="2" custLinFactNeighborX="-3145" custLinFactNeighborY="-3563"/>
      <dgm:spPr/>
    </dgm:pt>
    <dgm:pt modelId="{C9A91825-34A1-4BB8-8E6E-0C09BEF08E49}" type="pres">
      <dgm:prSet presAssocID="{1CBB8A86-3CAF-4E0B-A8E4-3E082233F552}" presName="pillars" presStyleCnt="0"/>
      <dgm:spPr/>
    </dgm:pt>
    <dgm:pt modelId="{BF8DBEA0-8B67-4CF0-975A-AEDF5C86317F}" type="pres">
      <dgm:prSet presAssocID="{1CBB8A86-3CAF-4E0B-A8E4-3E082233F552}" presName="pillar1" presStyleLbl="node1" presStyleIdx="0" presStyleCnt="1" custLinFactNeighborX="3728" custLinFactNeighborY="-340">
        <dgm:presLayoutVars>
          <dgm:bulletEnabled val="1"/>
        </dgm:presLayoutVars>
      </dgm:prSet>
      <dgm:spPr/>
    </dgm:pt>
    <dgm:pt modelId="{27D682B7-89C8-4D6C-8A6E-4CAB71497648}" type="pres">
      <dgm:prSet presAssocID="{1CBB8A86-3CAF-4E0B-A8E4-3E082233F552}" presName="base" presStyleLbl="dkBgShp" presStyleIdx="1" presStyleCnt="2" custLinFactY="10461" custLinFactNeighborX="-4096" custLinFactNeighborY="100000"/>
      <dgm:spPr>
        <a:solidFill>
          <a:srgbClr val="2B2765"/>
        </a:solidFill>
      </dgm:spPr>
    </dgm:pt>
  </dgm:ptLst>
  <dgm:cxnLst>
    <dgm:cxn modelId="{FCC5180A-A6E0-4E10-B88F-C3FB96B51019}" srcId="{1CBB8A86-3CAF-4E0B-A8E4-3E082233F552}" destId="{C63171D2-6817-4B15-86CA-A33A00C5977F}" srcOrd="0" destOrd="0" parTransId="{D9CFC9AF-4919-43AE-98E1-91388D931F56}" sibTransId="{E389638E-AE59-4DB6-8087-1DBBC97C5D2E}"/>
    <dgm:cxn modelId="{23086E30-24C0-40A8-B539-51F858D81D96}" type="presOf" srcId="{1CBB8A86-3CAF-4E0B-A8E4-3E082233F552}" destId="{40C48A27-9CCD-407C-8C06-BEB7AEE9E632}" srcOrd="0" destOrd="0" presId="urn:microsoft.com/office/officeart/2005/8/layout/hList3"/>
    <dgm:cxn modelId="{BBF5E8B3-3D1B-4876-A99D-483AE8FFB761}" type="presOf" srcId="{C63171D2-6817-4B15-86CA-A33A00C5977F}" destId="{BF8DBEA0-8B67-4CF0-975A-AEDF5C86317F}" srcOrd="0" destOrd="0" presId="urn:microsoft.com/office/officeart/2005/8/layout/hList3"/>
    <dgm:cxn modelId="{5AA681D4-1EB6-4664-AC9B-164199A5E2DB}" type="presOf" srcId="{EFC9D06D-2114-469A-B84B-053D567B6B76}" destId="{1383AD79-C27B-4716-86E8-5911BA579F38}" srcOrd="0" destOrd="0" presId="urn:microsoft.com/office/officeart/2005/8/layout/hList3"/>
    <dgm:cxn modelId="{20342FF2-3F95-4C60-9B3F-5728083216C9}" srcId="{EFC9D06D-2114-469A-B84B-053D567B6B76}" destId="{1CBB8A86-3CAF-4E0B-A8E4-3E082233F552}" srcOrd="0" destOrd="0" parTransId="{672B8F80-A55C-4175-88B1-A381659C075C}" sibTransId="{D8A14388-CB4E-4DC6-AB07-4480A5912F6F}"/>
    <dgm:cxn modelId="{2A7E68DB-84F7-4CB6-8C0A-FC865E985C3B}" type="presParOf" srcId="{1383AD79-C27B-4716-86E8-5911BA579F38}" destId="{40C48A27-9CCD-407C-8C06-BEB7AEE9E632}" srcOrd="0" destOrd="0" presId="urn:microsoft.com/office/officeart/2005/8/layout/hList3"/>
    <dgm:cxn modelId="{1D41F21B-8510-49BF-B1F2-7B8257D15083}" type="presParOf" srcId="{1383AD79-C27B-4716-86E8-5911BA579F38}" destId="{C9A91825-34A1-4BB8-8E6E-0C09BEF08E49}" srcOrd="1" destOrd="0" presId="urn:microsoft.com/office/officeart/2005/8/layout/hList3"/>
    <dgm:cxn modelId="{75D84177-DCDD-46F8-B27D-63999B5C2F91}" type="presParOf" srcId="{C9A91825-34A1-4BB8-8E6E-0C09BEF08E49}" destId="{BF8DBEA0-8B67-4CF0-975A-AEDF5C86317F}" srcOrd="0" destOrd="0" presId="urn:microsoft.com/office/officeart/2005/8/layout/hList3"/>
    <dgm:cxn modelId="{25B758E9-0C4E-4643-BD2B-C4E82AA3C52B}" type="presParOf" srcId="{1383AD79-C27B-4716-86E8-5911BA579F38}" destId="{27D682B7-89C8-4D6C-8A6E-4CAB71497648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2BE4E-0AE1-4B62-89D8-EAC66EE8DD9D}">
      <dsp:nvSpPr>
        <dsp:cNvPr id="0" name=""/>
        <dsp:cNvSpPr/>
      </dsp:nvSpPr>
      <dsp:spPr>
        <a:xfrm>
          <a:off x="0" y="0"/>
          <a:ext cx="14060945" cy="1331219"/>
        </a:xfrm>
        <a:prstGeom prst="rect">
          <a:avLst/>
        </a:prstGeom>
        <a:solidFill>
          <a:srgbClr val="2B276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 dirty="0"/>
            <a:t>The Problem</a:t>
          </a:r>
          <a:endParaRPr lang="en-IL" sz="6100" kern="1200" dirty="0"/>
        </a:p>
      </dsp:txBody>
      <dsp:txXfrm>
        <a:off x="0" y="0"/>
        <a:ext cx="14060945" cy="1331219"/>
      </dsp:txXfrm>
    </dsp:sp>
    <dsp:sp modelId="{D64BE642-1DF3-496C-BAC1-7E12DA80C42B}">
      <dsp:nvSpPr>
        <dsp:cNvPr id="0" name=""/>
        <dsp:cNvSpPr/>
      </dsp:nvSpPr>
      <dsp:spPr>
        <a:xfrm>
          <a:off x="6865" y="1331219"/>
          <a:ext cx="4682404" cy="2795561"/>
        </a:xfrm>
        <a:prstGeom prst="rect">
          <a:avLst/>
        </a:prstGeom>
        <a:solidFill>
          <a:srgbClr val="2B276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kern="1200" dirty="0"/>
            <a:t>Real-world datasets are often </a:t>
          </a:r>
          <a:r>
            <a:rPr lang="en-IL" sz="3200" b="1" kern="1200" dirty="0"/>
            <a:t>imbalanced</a:t>
          </a:r>
          <a:r>
            <a:rPr lang="en-IL" sz="3200" kern="1200" dirty="0"/>
            <a:t>: rare cases (fraud, disease, faults) are far outnumbered.</a:t>
          </a:r>
        </a:p>
      </dsp:txBody>
      <dsp:txXfrm>
        <a:off x="6865" y="1331219"/>
        <a:ext cx="4682404" cy="2795561"/>
      </dsp:txXfrm>
    </dsp:sp>
    <dsp:sp modelId="{CE566BFE-3776-4A09-84B9-58C271EC9ADC}">
      <dsp:nvSpPr>
        <dsp:cNvPr id="0" name=""/>
        <dsp:cNvSpPr/>
      </dsp:nvSpPr>
      <dsp:spPr>
        <a:xfrm>
          <a:off x="4689270" y="1331219"/>
          <a:ext cx="4682404" cy="2795561"/>
        </a:xfrm>
        <a:prstGeom prst="rect">
          <a:avLst/>
        </a:prstGeom>
        <a:solidFill>
          <a:srgbClr val="2B276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kern="1200" dirty="0"/>
            <a:t>The </a:t>
          </a:r>
          <a:r>
            <a:rPr lang="en-IL" sz="3200" b="1" kern="1200" dirty="0"/>
            <a:t>accuracy paradox</a:t>
          </a:r>
          <a:r>
            <a:rPr lang="en-IL" sz="3200" kern="1200" dirty="0"/>
            <a:t>: a model can ignore the rare class and still score high accuracy.</a:t>
          </a:r>
        </a:p>
      </dsp:txBody>
      <dsp:txXfrm>
        <a:off x="4689270" y="1331219"/>
        <a:ext cx="4682404" cy="2795561"/>
      </dsp:txXfrm>
    </dsp:sp>
    <dsp:sp modelId="{1C0CABF3-7EE7-4010-8734-E0FDB215C1D8}">
      <dsp:nvSpPr>
        <dsp:cNvPr id="0" name=""/>
        <dsp:cNvSpPr/>
      </dsp:nvSpPr>
      <dsp:spPr>
        <a:xfrm>
          <a:off x="9371674" y="1331219"/>
          <a:ext cx="4682404" cy="2795561"/>
        </a:xfrm>
        <a:prstGeom prst="rect">
          <a:avLst/>
        </a:prstGeom>
        <a:solidFill>
          <a:srgbClr val="2B276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kern="1200" dirty="0"/>
            <a:t>Existing tools lack transparency, making balancing results hard to compare or reproduce.</a:t>
          </a:r>
        </a:p>
      </dsp:txBody>
      <dsp:txXfrm>
        <a:off x="9371674" y="1331219"/>
        <a:ext cx="4682404" cy="2795561"/>
      </dsp:txXfrm>
    </dsp:sp>
    <dsp:sp modelId="{33FCF795-8766-446B-878A-FB228E5D0DFF}">
      <dsp:nvSpPr>
        <dsp:cNvPr id="0" name=""/>
        <dsp:cNvSpPr/>
      </dsp:nvSpPr>
      <dsp:spPr>
        <a:xfrm>
          <a:off x="0" y="4126781"/>
          <a:ext cx="14060945" cy="310617"/>
        </a:xfrm>
        <a:prstGeom prst="rect">
          <a:avLst/>
        </a:prstGeom>
        <a:solidFill>
          <a:srgbClr val="2B276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9597F-ECB8-467D-B0A7-22EC62CEB6D3}">
      <dsp:nvSpPr>
        <dsp:cNvPr id="0" name=""/>
        <dsp:cNvSpPr/>
      </dsp:nvSpPr>
      <dsp:spPr>
        <a:xfrm>
          <a:off x="662227" y="21007"/>
          <a:ext cx="4801744" cy="1628425"/>
        </a:xfrm>
        <a:prstGeom prst="roundRect">
          <a:avLst>
            <a:gd name="adj" fmla="val 10000"/>
          </a:avLst>
        </a:prstGeom>
        <a:solidFill>
          <a:srgbClr val="2B276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73660" rIns="11049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Objectives</a:t>
          </a:r>
          <a:endParaRPr lang="en-IL" sz="5800" kern="1200" dirty="0"/>
        </a:p>
      </dsp:txBody>
      <dsp:txXfrm>
        <a:off x="709922" y="68702"/>
        <a:ext cx="4706354" cy="1533035"/>
      </dsp:txXfrm>
    </dsp:sp>
    <dsp:sp modelId="{F8592D7B-6598-4CD2-BE0A-97840D7A141D}">
      <dsp:nvSpPr>
        <dsp:cNvPr id="0" name=""/>
        <dsp:cNvSpPr/>
      </dsp:nvSpPr>
      <dsp:spPr>
        <a:xfrm>
          <a:off x="1142401" y="1649433"/>
          <a:ext cx="410406" cy="1969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9734"/>
              </a:lnTo>
              <a:lnTo>
                <a:pt x="410406" y="19697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E8D81C-B050-4675-B3BC-DE8D8058D4AE}">
      <dsp:nvSpPr>
        <dsp:cNvPr id="0" name=""/>
        <dsp:cNvSpPr/>
      </dsp:nvSpPr>
      <dsp:spPr>
        <a:xfrm>
          <a:off x="1552808" y="1933538"/>
          <a:ext cx="5722824" cy="33712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71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b="1" kern="1200" dirty="0"/>
            <a:t>Diagnose</a:t>
          </a:r>
          <a:r>
            <a:rPr lang="en-IL" sz="3200" kern="1200" dirty="0"/>
            <a:t> the level of imbalance in any </a:t>
          </a:r>
          <a:r>
            <a:rPr lang="en-IL" sz="3200" kern="1200" dirty="0" err="1"/>
            <a:t>labeled</a:t>
          </a:r>
          <a:r>
            <a:rPr lang="en-IL" sz="3200" kern="1200" dirty="0"/>
            <a:t> dataset and present it transparently (Imbalance Ratio + class distribution).</a:t>
          </a:r>
        </a:p>
      </dsp:txBody>
      <dsp:txXfrm>
        <a:off x="1651549" y="2032279"/>
        <a:ext cx="5525342" cy="3173777"/>
      </dsp:txXfrm>
    </dsp:sp>
    <dsp:sp modelId="{C7E0678F-1784-4640-B04C-28A40F85BDC4}">
      <dsp:nvSpPr>
        <dsp:cNvPr id="0" name=""/>
        <dsp:cNvSpPr/>
      </dsp:nvSpPr>
      <dsp:spPr>
        <a:xfrm>
          <a:off x="1142401" y="1649433"/>
          <a:ext cx="366194" cy="5495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95968"/>
              </a:lnTo>
              <a:lnTo>
                <a:pt x="366194" y="549596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657F37-4366-4B9C-BE9D-8277252A79DD}">
      <dsp:nvSpPr>
        <dsp:cNvPr id="0" name=""/>
        <dsp:cNvSpPr/>
      </dsp:nvSpPr>
      <dsp:spPr>
        <a:xfrm>
          <a:off x="1508596" y="5494678"/>
          <a:ext cx="5811287" cy="33014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71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b="1" kern="1200" dirty="0"/>
            <a:t>Empower</a:t>
          </a:r>
          <a:r>
            <a:rPr lang="en-IL" sz="3200" kern="1200" dirty="0"/>
            <a:t> users to freely choose and compare three balancing methods (SMOTE, NearMiss, Combined).</a:t>
          </a:r>
        </a:p>
      </dsp:txBody>
      <dsp:txXfrm>
        <a:off x="1605292" y="5591374"/>
        <a:ext cx="5617895" cy="3108057"/>
      </dsp:txXfrm>
    </dsp:sp>
    <dsp:sp modelId="{3F618611-F5FC-4176-AED4-575BE4F73695}">
      <dsp:nvSpPr>
        <dsp:cNvPr id="0" name=""/>
        <dsp:cNvSpPr/>
      </dsp:nvSpPr>
      <dsp:spPr>
        <a:xfrm>
          <a:off x="1142401" y="1649433"/>
          <a:ext cx="479243" cy="90395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39532"/>
              </a:lnTo>
              <a:lnTo>
                <a:pt x="479243" y="9039532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63106A-8E43-44B4-A01E-C97B00DD10D6}">
      <dsp:nvSpPr>
        <dsp:cNvPr id="0" name=""/>
        <dsp:cNvSpPr/>
      </dsp:nvSpPr>
      <dsp:spPr>
        <a:xfrm>
          <a:off x="1621645" y="9074286"/>
          <a:ext cx="5585187" cy="3229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7150" cap="flat" cmpd="sng" algn="ctr">
          <a:solidFill>
            <a:srgbClr val="2B276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b="1" kern="1200" dirty="0"/>
            <a:t>Show</a:t>
          </a:r>
          <a:r>
            <a:rPr lang="en-IL" sz="3200" kern="1200" dirty="0"/>
            <a:t> clear before-and-after results so the effect on the rare class is visible and easy to interpret.</a:t>
          </a:r>
        </a:p>
      </dsp:txBody>
      <dsp:txXfrm>
        <a:off x="1716230" y="9168871"/>
        <a:ext cx="5396017" cy="3040189"/>
      </dsp:txXfrm>
    </dsp:sp>
    <dsp:sp modelId="{52975A41-232B-4DE7-9BE7-3AC34FAFA8BE}">
      <dsp:nvSpPr>
        <dsp:cNvPr id="0" name=""/>
        <dsp:cNvSpPr/>
      </dsp:nvSpPr>
      <dsp:spPr>
        <a:xfrm>
          <a:off x="7243113" y="0"/>
          <a:ext cx="5108758" cy="1621212"/>
        </a:xfrm>
        <a:prstGeom prst="roundRect">
          <a:avLst>
            <a:gd name="adj" fmla="val 10000"/>
          </a:avLst>
        </a:prstGeom>
        <a:solidFill>
          <a:srgbClr val="2B276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73660" rIns="11049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Methodologies</a:t>
          </a:r>
          <a:endParaRPr lang="en-IL" sz="5800" kern="1200" dirty="0"/>
        </a:p>
      </dsp:txBody>
      <dsp:txXfrm>
        <a:off x="7290597" y="47484"/>
        <a:ext cx="5013790" cy="1526244"/>
      </dsp:txXfrm>
    </dsp:sp>
    <dsp:sp modelId="{7E7A7456-5F0A-4E61-AA28-F1B53E4BE5F9}">
      <dsp:nvSpPr>
        <dsp:cNvPr id="0" name=""/>
        <dsp:cNvSpPr/>
      </dsp:nvSpPr>
      <dsp:spPr>
        <a:xfrm>
          <a:off x="7753989" y="1621212"/>
          <a:ext cx="419725" cy="17205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0547"/>
              </a:lnTo>
              <a:lnTo>
                <a:pt x="419725" y="172054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94FCCC-8903-4CF1-8F03-326CAFD64CD4}">
      <dsp:nvSpPr>
        <dsp:cNvPr id="0" name=""/>
        <dsp:cNvSpPr/>
      </dsp:nvSpPr>
      <dsp:spPr>
        <a:xfrm>
          <a:off x="8173714" y="1982717"/>
          <a:ext cx="6036972" cy="27180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71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b="1" kern="1200" dirty="0"/>
            <a:t>SMOTE</a:t>
          </a:r>
          <a:r>
            <a:rPr lang="en-IL" sz="3200" kern="1200" dirty="0"/>
            <a:t> — oversampling: generates synthetic minority samples by interpolating between neighbours (k=5), growing the minority class</a:t>
          </a:r>
          <a:r>
            <a:rPr lang="en-IL" sz="3600" kern="1200" dirty="0"/>
            <a:t>.</a:t>
          </a:r>
        </a:p>
      </dsp:txBody>
      <dsp:txXfrm>
        <a:off x="8253324" y="2062327"/>
        <a:ext cx="5877752" cy="2558864"/>
      </dsp:txXfrm>
    </dsp:sp>
    <dsp:sp modelId="{7224198A-DACF-4E3E-99FD-16D09407DFC6}">
      <dsp:nvSpPr>
        <dsp:cNvPr id="0" name=""/>
        <dsp:cNvSpPr/>
      </dsp:nvSpPr>
      <dsp:spPr>
        <a:xfrm>
          <a:off x="7753989" y="1621212"/>
          <a:ext cx="560445" cy="49298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29899"/>
              </a:lnTo>
              <a:lnTo>
                <a:pt x="560445" y="492989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CA8854-2B5D-4F89-BDD9-1BE0A6A14651}">
      <dsp:nvSpPr>
        <dsp:cNvPr id="0" name=""/>
        <dsp:cNvSpPr/>
      </dsp:nvSpPr>
      <dsp:spPr>
        <a:xfrm>
          <a:off x="8314434" y="4980583"/>
          <a:ext cx="5896252" cy="31410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71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b="1" kern="1200" dirty="0"/>
            <a:t>NearMiss</a:t>
          </a:r>
          <a:r>
            <a:rPr lang="en-IL" sz="3200" kern="1200" dirty="0"/>
            <a:t> — undersampling: removes the majority samples closest to the class boundary (n=3), shrinking the majority class.</a:t>
          </a:r>
        </a:p>
      </dsp:txBody>
      <dsp:txXfrm>
        <a:off x="8406432" y="5072581"/>
        <a:ext cx="5712256" cy="2957061"/>
      </dsp:txXfrm>
    </dsp:sp>
    <dsp:sp modelId="{5E74230F-DA67-4894-946C-107A6CF4700F}">
      <dsp:nvSpPr>
        <dsp:cNvPr id="0" name=""/>
        <dsp:cNvSpPr/>
      </dsp:nvSpPr>
      <dsp:spPr>
        <a:xfrm>
          <a:off x="7753989" y="1621212"/>
          <a:ext cx="710714" cy="8443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43175"/>
              </a:lnTo>
              <a:lnTo>
                <a:pt x="710714" y="8443175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E5947-86BB-426A-B347-466062AD064A}">
      <dsp:nvSpPr>
        <dsp:cNvPr id="0" name=""/>
        <dsp:cNvSpPr/>
      </dsp:nvSpPr>
      <dsp:spPr>
        <a:xfrm>
          <a:off x="8464703" y="8549900"/>
          <a:ext cx="5384390" cy="3028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71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200" b="1" kern="1200" dirty="0"/>
            <a:t>Combined</a:t>
          </a:r>
          <a:r>
            <a:rPr lang="en-IL" sz="3200" kern="1200" dirty="0"/>
            <a:t> — applies SMOTE then NearMiss, balancing toward the midpoint of the two classes.</a:t>
          </a:r>
        </a:p>
      </dsp:txBody>
      <dsp:txXfrm>
        <a:off x="8553419" y="8638616"/>
        <a:ext cx="5206958" cy="28515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48A27-9CCD-407C-8C06-BEB7AEE9E632}">
      <dsp:nvSpPr>
        <dsp:cNvPr id="0" name=""/>
        <dsp:cNvSpPr/>
      </dsp:nvSpPr>
      <dsp:spPr>
        <a:xfrm>
          <a:off x="0" y="0"/>
          <a:ext cx="17842623" cy="1425009"/>
        </a:xfrm>
        <a:prstGeom prst="rect">
          <a:avLst/>
        </a:prstGeom>
        <a:solidFill>
          <a:srgbClr val="2B276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Experiment</a:t>
          </a:r>
          <a:endParaRPr lang="en-IL" sz="6500" kern="1200" dirty="0"/>
        </a:p>
      </dsp:txBody>
      <dsp:txXfrm>
        <a:off x="0" y="0"/>
        <a:ext cx="17842623" cy="1425009"/>
      </dsp:txXfrm>
    </dsp:sp>
    <dsp:sp modelId="{BF8DBEA0-8B67-4CF0-975A-AEDF5C86317F}">
      <dsp:nvSpPr>
        <dsp:cNvPr id="0" name=""/>
        <dsp:cNvSpPr/>
      </dsp:nvSpPr>
      <dsp:spPr>
        <a:xfrm>
          <a:off x="0" y="1414834"/>
          <a:ext cx="17842623" cy="2992518"/>
        </a:xfrm>
        <a:prstGeom prst="rect">
          <a:avLst/>
        </a:prstGeom>
        <a:solidFill>
          <a:srgbClr val="2B276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000" kern="1200" dirty="0"/>
            <a:t>Each balancing method was tested against the original, unbalanced data across eleven real-world datasets in the medical, finance, and education domains. For every dataset, a Logistic Regression model was trained and evaluated on the original and each balanced version under identical conditions. The chart highlights the five medical datasets, where a missed minority case can mean an undetected disease. Performance is reported using </a:t>
          </a:r>
          <a:r>
            <a:rPr lang="en-IL" sz="3000" b="1" kern="1200" dirty="0"/>
            <a:t>G-Mean</a:t>
          </a:r>
          <a:r>
            <a:rPr lang="en-IL" sz="3000" kern="1200" dirty="0"/>
            <a:t>, which only rises when the model performs well on both the majority and minority classes, making it the most honest measure of whether balancing actually helped.</a:t>
          </a:r>
        </a:p>
      </dsp:txBody>
      <dsp:txXfrm>
        <a:off x="0" y="1414834"/>
        <a:ext cx="17842623" cy="2992518"/>
      </dsp:txXfrm>
    </dsp:sp>
    <dsp:sp modelId="{27D682B7-89C8-4D6C-8A6E-4CAB71497648}">
      <dsp:nvSpPr>
        <dsp:cNvPr id="0" name=""/>
        <dsp:cNvSpPr/>
      </dsp:nvSpPr>
      <dsp:spPr>
        <a:xfrm>
          <a:off x="0" y="4417527"/>
          <a:ext cx="17842623" cy="332502"/>
        </a:xfrm>
        <a:prstGeom prst="rect">
          <a:avLst/>
        </a:prstGeom>
        <a:solidFill>
          <a:srgbClr val="2B276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059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338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189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05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528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1543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852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741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021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132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281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E44D1-B4F4-4AF6-AC12-6E7402655247}" type="datetimeFigureOut">
              <a:rPr lang="en-IL" smtClean="0"/>
              <a:t>26/06/2026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14A29-1469-4228-82E5-191B51F9EE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49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openxmlformats.org/officeDocument/2006/relationships/diagramData" Target="../diagrams/data3.xml"/><Relationship Id="rId3" Type="http://schemas.openxmlformats.org/officeDocument/2006/relationships/image" Target="../media/image2.svg"/><Relationship Id="rId21" Type="http://schemas.openxmlformats.org/officeDocument/2006/relationships/diagramColors" Target="../diagrams/colors3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image" Target="../media/image6.svg"/><Relationship Id="rId2" Type="http://schemas.openxmlformats.org/officeDocument/2006/relationships/image" Target="../media/image1.svg"/><Relationship Id="rId16" Type="http://schemas.openxmlformats.org/officeDocument/2006/relationships/image" Target="../media/image5.svg"/><Relationship Id="rId20" Type="http://schemas.openxmlformats.org/officeDocument/2006/relationships/diagramQuickStyle" Target="../diagrams/quickStyl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image" Target="../media/image4.svg"/><Relationship Id="rId10" Type="http://schemas.openxmlformats.org/officeDocument/2006/relationships/diagramLayout" Target="../diagrams/layout2.xml"/><Relationship Id="rId19" Type="http://schemas.openxmlformats.org/officeDocument/2006/relationships/diagramLayout" Target="../diagrams/layout3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3.svg"/><Relationship Id="rId22" Type="http://schemas.microsoft.com/office/2007/relationships/diagramDrawing" Target="../diagrams/draw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637BB33-9292-39D0-5029-6A5F147BD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14691" y="0"/>
            <a:ext cx="9986506" cy="23311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0A7F58F-6AC0-470C-41FF-D3B451F9D343}"/>
              </a:ext>
            </a:extLst>
          </p:cNvPr>
          <p:cNvSpPr/>
          <p:nvPr/>
        </p:nvSpPr>
        <p:spPr>
          <a:xfrm>
            <a:off x="-23446" y="2408194"/>
            <a:ext cx="30298659" cy="4839351"/>
          </a:xfrm>
          <a:prstGeom prst="rect">
            <a:avLst/>
          </a:prstGeom>
          <a:solidFill>
            <a:srgbClr val="2B27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87049-5B35-6E2A-2AB9-4D7973A72F40}"/>
              </a:ext>
            </a:extLst>
          </p:cNvPr>
          <p:cNvSpPr txBox="1"/>
          <p:nvPr/>
        </p:nvSpPr>
        <p:spPr>
          <a:xfrm>
            <a:off x="522561" y="2642655"/>
            <a:ext cx="2937076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Imbalance Testing and Handling System  </a:t>
            </a:r>
            <a:endParaRPr lang="en-IL" sz="10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137D2-B900-CAD7-7DA6-046136722324}"/>
              </a:ext>
            </a:extLst>
          </p:cNvPr>
          <p:cNvSpPr txBox="1"/>
          <p:nvPr/>
        </p:nvSpPr>
        <p:spPr>
          <a:xfrm>
            <a:off x="522560" y="4489627"/>
            <a:ext cx="128272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Software Engineering Department </a:t>
            </a:r>
          </a:p>
          <a:p>
            <a:r>
              <a:rPr lang="en-US" sz="4800" dirty="0">
                <a:solidFill>
                  <a:schemeClr val="bg1"/>
                </a:solidFill>
              </a:rPr>
              <a:t>By: Niv Oren &amp; Daniel Levovsky </a:t>
            </a:r>
          </a:p>
          <a:p>
            <a:r>
              <a:rPr lang="en-US" sz="4800" dirty="0">
                <a:solidFill>
                  <a:schemeClr val="bg1"/>
                </a:solidFill>
              </a:rPr>
              <a:t>Advisor: Avital Shulner Tal </a:t>
            </a:r>
            <a:endParaRPr lang="en-IL" sz="4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D36DA-8FB0-1772-2506-8114D75EDD4A}"/>
              </a:ext>
            </a:extLst>
          </p:cNvPr>
          <p:cNvSpPr txBox="1"/>
          <p:nvPr/>
        </p:nvSpPr>
        <p:spPr>
          <a:xfrm>
            <a:off x="18864535" y="4489627"/>
            <a:ext cx="77267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Capstone Project – phase B</a:t>
            </a:r>
          </a:p>
          <a:p>
            <a:r>
              <a:rPr lang="en-US" sz="4800" dirty="0">
                <a:solidFill>
                  <a:schemeClr val="bg1"/>
                </a:solidFill>
              </a:rPr>
              <a:t>CODE: 26-1-D-3</a:t>
            </a:r>
          </a:p>
          <a:p>
            <a:endParaRPr lang="en-IL" sz="4800" dirty="0">
              <a:solidFill>
                <a:schemeClr val="bg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31F607A8-1010-DD27-2595-9B64C94AE9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61308" y="4350815"/>
            <a:ext cx="2673060" cy="2673060"/>
          </a:xfrm>
          <a:prstGeom prst="rect">
            <a:avLst/>
          </a:prstGeom>
        </p:spPr>
      </p:pic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108A3064-A739-11D4-A526-06A9608DB0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404984"/>
              </p:ext>
            </p:extLst>
          </p:nvPr>
        </p:nvGraphicFramePr>
        <p:xfrm>
          <a:off x="241207" y="7496693"/>
          <a:ext cx="14060945" cy="4437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9EF4B9F3-D5BA-7F46-8381-3CFA50651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5904165"/>
              </p:ext>
            </p:extLst>
          </p:nvPr>
        </p:nvGraphicFramePr>
        <p:xfrm>
          <a:off x="-280991" y="12063021"/>
          <a:ext cx="17004326" cy="13314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4" name="Graphic 33">
            <a:extLst>
              <a:ext uri="{FF2B5EF4-FFF2-40B4-BE49-F238E27FC236}">
                <a16:creationId xmlns:a16="http://schemas.microsoft.com/office/drawing/2014/main" id="{68CE5D0F-A306-D24D-9CC9-393673D67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302152" y="7367764"/>
            <a:ext cx="15973062" cy="1181585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CE8D9666-0C29-1904-292F-A60107C2FE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997353" y="19439246"/>
            <a:ext cx="16318624" cy="1213711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1A634C55-BDE4-4452-E6D3-00A7879BD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637" y="24502784"/>
            <a:ext cx="14060947" cy="924814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F100BA4F-E285-4D1A-527E-BCB2C3744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191383" y="36462307"/>
            <a:ext cx="18083830" cy="6341456"/>
          </a:xfrm>
          <a:prstGeom prst="rect">
            <a:avLst/>
          </a:prstGeom>
        </p:spPr>
      </p:pic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38AA7635-2EA5-0C6D-5A76-564EE75A22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5784735"/>
              </p:ext>
            </p:extLst>
          </p:nvPr>
        </p:nvGraphicFramePr>
        <p:xfrm>
          <a:off x="12191383" y="31712277"/>
          <a:ext cx="17842623" cy="4750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0359F403-B4C8-FE55-A2D9-D3063BE88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000534"/>
              </p:ext>
            </p:extLst>
          </p:nvPr>
        </p:nvGraphicFramePr>
        <p:xfrm>
          <a:off x="140676" y="34071702"/>
          <a:ext cx="11819640" cy="829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928">
                  <a:extLst>
                    <a:ext uri="{9D8B030D-6E8A-4147-A177-3AD203B41FA5}">
                      <a16:colId xmlns:a16="http://schemas.microsoft.com/office/drawing/2014/main" val="33128865"/>
                    </a:ext>
                  </a:extLst>
                </a:gridCol>
                <a:gridCol w="2363928">
                  <a:extLst>
                    <a:ext uri="{9D8B030D-6E8A-4147-A177-3AD203B41FA5}">
                      <a16:colId xmlns:a16="http://schemas.microsoft.com/office/drawing/2014/main" val="1486593273"/>
                    </a:ext>
                  </a:extLst>
                </a:gridCol>
                <a:gridCol w="2363928">
                  <a:extLst>
                    <a:ext uri="{9D8B030D-6E8A-4147-A177-3AD203B41FA5}">
                      <a16:colId xmlns:a16="http://schemas.microsoft.com/office/drawing/2014/main" val="2948443424"/>
                    </a:ext>
                  </a:extLst>
                </a:gridCol>
                <a:gridCol w="2363928">
                  <a:extLst>
                    <a:ext uri="{9D8B030D-6E8A-4147-A177-3AD203B41FA5}">
                      <a16:colId xmlns:a16="http://schemas.microsoft.com/office/drawing/2014/main" val="1757449075"/>
                    </a:ext>
                  </a:extLst>
                </a:gridCol>
                <a:gridCol w="2363928">
                  <a:extLst>
                    <a:ext uri="{9D8B030D-6E8A-4147-A177-3AD203B41FA5}">
                      <a16:colId xmlns:a16="http://schemas.microsoft.com/office/drawing/2014/main" val="3152929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L" sz="3000" b="1" dirty="0"/>
                        <a:t>Balancing improved performance on every medical dataset.</a:t>
                      </a:r>
                      <a:r>
                        <a:rPr lang="en-IL" sz="3000" dirty="0"/>
                        <a:t> </a:t>
                      </a:r>
                    </a:p>
                  </a:txBody>
                  <a:tcPr>
                    <a:solidFill>
                      <a:srgbClr val="2B27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L" sz="2800" b="1" dirty="0"/>
                        <a:t>SMOTE was the strongest method</a:t>
                      </a:r>
                      <a:endParaRPr lang="en-IL" sz="3000" dirty="0"/>
                    </a:p>
                  </a:txBody>
                  <a:tcPr>
                    <a:solidFill>
                      <a:srgbClr val="2B27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L" sz="2800" b="1" dirty="0"/>
                        <a:t>The Indian Liver dataset shows the accuracy paradox resolved.</a:t>
                      </a:r>
                      <a:r>
                        <a:rPr lang="en-IL" sz="2800" dirty="0"/>
                        <a:t> </a:t>
                      </a:r>
                      <a:endParaRPr lang="en-IL" sz="3000" dirty="0"/>
                    </a:p>
                  </a:txBody>
                  <a:tcPr>
                    <a:solidFill>
                      <a:srgbClr val="2B27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L" sz="2800" b="1" dirty="0"/>
                        <a:t>The biggest gains came on the worst baselines</a:t>
                      </a:r>
                      <a:endParaRPr lang="en-IL" sz="3000" dirty="0"/>
                    </a:p>
                  </a:txBody>
                  <a:tcPr>
                    <a:solidFill>
                      <a:srgbClr val="2B27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L" sz="2800" b="1" dirty="0"/>
                        <a:t>NearMiss helped least</a:t>
                      </a:r>
                      <a:endParaRPr lang="en-IL" sz="3000" dirty="0"/>
                    </a:p>
                  </a:txBody>
                  <a:tcPr>
                    <a:solidFill>
                      <a:srgbClr val="2B27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508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3000" dirty="0"/>
                        <a:t>Each dataset reached its highest G-Mean after a balancing method was applied, not on the original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3200" dirty="0"/>
                        <a:t>achieving the best G-Mean on four of the five medical datasets; the Combined method led on Heart Disease.</a:t>
                      </a:r>
                      <a:endParaRPr lang="en-IL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3200" dirty="0"/>
                        <a:t>model went from ignoring the minority class entirely to detecting it reliably.</a:t>
                      </a:r>
                      <a:endParaRPr lang="en-IL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3200" dirty="0"/>
                        <a:t>The datasets that scored lowest before balancing</a:t>
                      </a:r>
                      <a:r>
                        <a:rPr lang="en-US" sz="3200" dirty="0"/>
                        <a:t>,</a:t>
                      </a:r>
                      <a:r>
                        <a:rPr lang="en-IL" sz="3200" dirty="0"/>
                        <a:t> improved the most.</a:t>
                      </a:r>
                      <a:endParaRPr lang="en-IL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3200" dirty="0"/>
                        <a:t>undersampling gave smaller gains than SMOTE, consistent with the cost of discarding data.</a:t>
                      </a:r>
                      <a:endParaRPr lang="en-IL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815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99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2856</TotalTime>
  <Words>414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דניאל לבובסקי</dc:creator>
  <cp:lastModifiedBy>דניאל לבובסקי</cp:lastModifiedBy>
  <cp:revision>5</cp:revision>
  <dcterms:created xsi:type="dcterms:W3CDTF">2026-06-18T08:36:33Z</dcterms:created>
  <dcterms:modified xsi:type="dcterms:W3CDTF">2026-06-27T19:28:13Z</dcterms:modified>
</cp:coreProperties>
</file>